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8"/>
    <p:sldId id="306" r:id="rId7"/>
    <p:sldId id="307" r:id="rId6"/>
    <p:sldId id="308" r:id="rId5"/>
    <p:sldId id="309" r:id="rId4"/>
    <p:sldId id="310" r:id="rId3"/>
    <p:sldId id="311" r:id="rId2"/>
    <p:sldId id="312" r:id="rId65"/>
    <p:sldId id="313" r:id="rId66"/>
    <p:sldId id="314" r:id="rId67"/>
    <p:sldId id="315" r:id="rId68"/>
    <p:sldId id="316" r:id="rId69"/>
    <p:sldId id="317" r:id="rId70"/>
    <p:sldId id="318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40920-2FC8-4031-BC0D-28C24D3DF173}" v="1" dt="2026-09-25T15:53:54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2" y="2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6.xml"/><Relationship Id="rId3" Type="http://schemas.openxmlformats.org/officeDocument/2006/relationships/slide" Target="slides/slide55.xml"/><Relationship Id="rId4" Type="http://schemas.openxmlformats.org/officeDocument/2006/relationships/slide" Target="slides/slide54.xml"/><Relationship Id="rId5" Type="http://schemas.openxmlformats.org/officeDocument/2006/relationships/slide" Target="slides/slide53.xml"/><Relationship Id="rId6" Type="http://schemas.openxmlformats.org/officeDocument/2006/relationships/slide" Target="slides/slide52.xml"/><Relationship Id="rId7" Type="http://schemas.openxmlformats.org/officeDocument/2006/relationships/slide" Target="slides/slide51.xml"/><Relationship Id="rId8" Type="http://schemas.openxmlformats.org/officeDocument/2006/relationships/slide" Target="slides/slide50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Relationship Id="rId64" Type="http://schemas.microsoft.com/office/2015/10/relationships/revisionInfo" Target="revisionInfo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Keyang" userId="04a9c76f-4fb9-45ac-bd00-4af93feac29c" providerId="ADAL" clId="{96CEFCF6-1D36-43AD-9421-D6A67F41D092}"/>
    <pc:docChg chg="custSel addSld delSld modSld">
      <pc:chgData name="Yang, Keyang" userId="04a9c76f-4fb9-45ac-bd00-4af93feac29c" providerId="ADAL" clId="{96CEFCF6-1D36-43AD-9421-D6A67F41D092}" dt="2026-09-25T16:09:51.251" v="79"/>
      <pc:docMkLst>
        <pc:docMk/>
      </pc:docMkLst>
      <pc:sldChg chg="delSp modSp mod">
        <pc:chgData name="Yang, Keyang" userId="04a9c76f-4fb9-45ac-bd00-4af93feac29c" providerId="ADAL" clId="{96CEFCF6-1D36-43AD-9421-D6A67F41D092}" dt="2026-09-22T00:58:15.378" v="14" actId="1076"/>
        <pc:sldMkLst>
          <pc:docMk/>
          <pc:sldMk cId="0" sldId="266"/>
        </pc:sldMkLst>
        <pc:spChg chg="mod">
          <ac:chgData name="Yang, Keyang" userId="04a9c76f-4fb9-45ac-bd00-4af93feac29c" providerId="ADAL" clId="{96CEFCF6-1D36-43AD-9421-D6A67F41D092}" dt="2026-09-22T00:58:09.210" v="13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Yang, Keyang" userId="04a9c76f-4fb9-45ac-bd00-4af93feac29c" providerId="ADAL" clId="{96CEFCF6-1D36-43AD-9421-D6A67F41D092}" dt="2026-09-22T00:58:15.378" v="14" actId="1076"/>
          <ac:spMkLst>
            <pc:docMk/>
            <pc:sldMk cId="0" sldId="266"/>
            <ac:spMk id="6" creationId="{00000000-0000-0000-0000-000000000000}"/>
          </ac:spMkLst>
        </pc:spChg>
      </pc:sldChg>
      <pc:sldChg chg="delSp modSp mod">
        <pc:chgData name="Yang, Keyang" userId="04a9c76f-4fb9-45ac-bd00-4af93feac29c" providerId="ADAL" clId="{96CEFCF6-1D36-43AD-9421-D6A67F41D092}" dt="2026-09-22T01:56:01.859" v="41" actId="20577"/>
        <pc:sldMkLst>
          <pc:docMk/>
          <pc:sldMk cId="0" sldId="267"/>
        </pc:sldMkLst>
        <pc:spChg chg="mod">
          <ac:chgData name="Yang, Keyang" userId="04a9c76f-4fb9-45ac-bd00-4af93feac29c" providerId="ADAL" clId="{96CEFCF6-1D36-43AD-9421-D6A67F41D092}" dt="2026-09-22T01:39:30.313" v="20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Yang, Keyang" userId="04a9c76f-4fb9-45ac-bd00-4af93feac29c" providerId="ADAL" clId="{96CEFCF6-1D36-43AD-9421-D6A67F41D092}" dt="2026-09-22T01:56:01.859" v="41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2T00:56:16.786" v="3" actId="1076"/>
        <pc:sldMkLst>
          <pc:docMk/>
          <pc:sldMk cId="0" sldId="269"/>
        </pc:sldMkLst>
        <pc:spChg chg="mod">
          <ac:chgData name="Yang, Keyang" userId="04a9c76f-4fb9-45ac-bd00-4af93feac29c" providerId="ADAL" clId="{96CEFCF6-1D36-43AD-9421-D6A67F41D092}" dt="2026-09-22T00:56:16.786" v="3" actId="1076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5T15:52:03.318" v="46" actId="20577"/>
        <pc:sldMkLst>
          <pc:docMk/>
          <pc:sldMk cId="0" sldId="278"/>
        </pc:sldMkLst>
        <pc:spChg chg="mod">
          <ac:chgData name="Yang, Keyang" userId="04a9c76f-4fb9-45ac-bd00-4af93feac29c" providerId="ADAL" clId="{96CEFCF6-1D36-43AD-9421-D6A67F41D092}" dt="2026-09-25T15:52:03.318" v="46" actId="20577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3T15:49:54.426" v="45" actId="1076"/>
        <pc:sldMkLst>
          <pc:docMk/>
          <pc:sldMk cId="0" sldId="281"/>
        </pc:sldMkLst>
        <pc:spChg chg="mod">
          <ac:chgData name="Yang, Keyang" userId="04a9c76f-4fb9-45ac-bd00-4af93feac29c" providerId="ADAL" clId="{96CEFCF6-1D36-43AD-9421-D6A67F41D092}" dt="2026-09-23T15:49:54.426" v="45" actId="1076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5T15:56:07.220" v="47" actId="20577"/>
        <pc:sldMkLst>
          <pc:docMk/>
          <pc:sldMk cId="0" sldId="283"/>
        </pc:sldMkLst>
        <pc:spChg chg="mod">
          <ac:chgData name="Yang, Keyang" userId="04a9c76f-4fb9-45ac-bd00-4af93feac29c" providerId="ADAL" clId="{96CEFCF6-1D36-43AD-9421-D6A67F41D092}" dt="2026-09-25T15:56:07.220" v="47" actId="20577"/>
          <ac:spMkLst>
            <pc:docMk/>
            <pc:sldMk cId="0" sldId="283"/>
            <ac:spMk id="4" creationId="{00000000-0000-0000-0000-000000000000}"/>
          </ac:spMkLst>
        </pc:spChg>
      </pc:sldChg>
      <pc:sldChg chg="del">
        <pc:chgData name="Yang, Keyang" userId="04a9c76f-4fb9-45ac-bd00-4af93feac29c" providerId="ADAL" clId="{96CEFCF6-1D36-43AD-9421-D6A67F41D092}" dt="2026-09-25T15:59:59.029" v="49"/>
        <pc:sldMkLst>
          <pc:docMk/>
          <pc:sldMk cId="0" sldId="284"/>
        </pc:sldMkLst>
      </pc:sldChg>
      <pc:sldChg chg="modSp add del mod">
        <pc:chgData name="Yang, Keyang" userId="04a9c76f-4fb9-45ac-bd00-4af93feac29c" providerId="ADAL" clId="{96CEFCF6-1D36-43AD-9421-D6A67F41D092}" dt="2026-09-25T16:00:25.608" v="53"/>
        <pc:sldMkLst>
          <pc:docMk/>
          <pc:sldMk cId="4194604555" sldId="312"/>
        </pc:sldMkLst>
        <pc:spChg chg="mod">
          <ac:chgData name="Yang, Keyang" userId="04a9c76f-4fb9-45ac-bd00-4af93feac29c" providerId="ADAL" clId="{96CEFCF6-1D36-43AD-9421-D6A67F41D092}" dt="2026-09-25T15:59:59.549" v="51"/>
          <ac:spMkLst>
            <pc:docMk/>
            <pc:sldMk cId="4194604555" sldId="312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1:07.385" v="57"/>
        <pc:sldMkLst>
          <pc:docMk/>
          <pc:sldMk cId="2800425177" sldId="313"/>
        </pc:sldMkLst>
        <pc:spChg chg="mod">
          <ac:chgData name="Yang, Keyang" userId="04a9c76f-4fb9-45ac-bd00-4af93feac29c" providerId="ADAL" clId="{96CEFCF6-1D36-43AD-9421-D6A67F41D092}" dt="2026-09-25T16:00:25.628" v="55"/>
          <ac:spMkLst>
            <pc:docMk/>
            <pc:sldMk cId="2800425177" sldId="313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1:23.839" v="61"/>
        <pc:sldMkLst>
          <pc:docMk/>
          <pc:sldMk cId="433159733" sldId="314"/>
        </pc:sldMkLst>
        <pc:spChg chg="mod">
          <ac:chgData name="Yang, Keyang" userId="04a9c76f-4fb9-45ac-bd00-4af93feac29c" providerId="ADAL" clId="{96CEFCF6-1D36-43AD-9421-D6A67F41D092}" dt="2026-09-25T16:01:07.905" v="59"/>
          <ac:spMkLst>
            <pc:docMk/>
            <pc:sldMk cId="433159733" sldId="314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1:36.388" v="64"/>
        <pc:sldMkLst>
          <pc:docMk/>
          <pc:sldMk cId="812093914" sldId="315"/>
        </pc:sldMkLst>
        <pc:spChg chg="mod">
          <ac:chgData name="Yang, Keyang" userId="04a9c76f-4fb9-45ac-bd00-4af93feac29c" providerId="ADAL" clId="{96CEFCF6-1D36-43AD-9421-D6A67F41D092}" dt="2026-09-25T16:01:23.855" v="62"/>
          <ac:spMkLst>
            <pc:docMk/>
            <pc:sldMk cId="812093914" sldId="315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8:42.469" v="68"/>
        <pc:sldMkLst>
          <pc:docMk/>
          <pc:sldMk cId="668011710" sldId="316"/>
        </pc:sldMkLst>
        <pc:spChg chg="mod">
          <ac:chgData name="Yang, Keyang" userId="04a9c76f-4fb9-45ac-bd00-4af93feac29c" providerId="ADAL" clId="{96CEFCF6-1D36-43AD-9421-D6A67F41D092}" dt="2026-09-25T16:01:36.902" v="66"/>
          <ac:spMkLst>
            <pc:docMk/>
            <pc:sldMk cId="668011710" sldId="316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9:18.561" v="72"/>
        <pc:sldMkLst>
          <pc:docMk/>
          <pc:sldMk cId="917899592" sldId="317"/>
        </pc:sldMkLst>
        <pc:spChg chg="mod">
          <ac:chgData name="Yang, Keyang" userId="04a9c76f-4fb9-45ac-bd00-4af93feac29c" providerId="ADAL" clId="{96CEFCF6-1D36-43AD-9421-D6A67F41D092}" dt="2026-09-25T16:08:43.196" v="70"/>
          <ac:spMkLst>
            <pc:docMk/>
            <pc:sldMk cId="917899592" sldId="317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9:24.326" v="76"/>
        <pc:sldMkLst>
          <pc:docMk/>
          <pc:sldMk cId="3016946861" sldId="318"/>
        </pc:sldMkLst>
        <pc:spChg chg="mod">
          <ac:chgData name="Yang, Keyang" userId="04a9c76f-4fb9-45ac-bd00-4af93feac29c" providerId="ADAL" clId="{96CEFCF6-1D36-43AD-9421-D6A67F41D092}" dt="2026-09-25T16:09:19.080" v="74"/>
          <ac:spMkLst>
            <pc:docMk/>
            <pc:sldMk cId="3016946861" sldId="318"/>
            <ac:spMk id="4" creationId="{00000000-0000-0000-0000-000000000000}"/>
          </ac:spMkLst>
        </pc:spChg>
      </pc:sldChg>
      <pc:sldChg chg="add del">
        <pc:chgData name="Yang, Keyang" userId="04a9c76f-4fb9-45ac-bd00-4af93feac29c" providerId="ADAL" clId="{96CEFCF6-1D36-43AD-9421-D6A67F41D092}" dt="2026-09-25T16:09:50.738" v="78"/>
        <pc:sldMkLst>
          <pc:docMk/>
          <pc:sldMk cId="1985086625" sldId="319"/>
        </pc:sldMkLst>
      </pc:sldChg>
      <pc:sldChg chg="modSp add mod">
        <pc:chgData name="Yang, Keyang" userId="04a9c76f-4fb9-45ac-bd00-4af93feac29c" providerId="ADAL" clId="{96CEFCF6-1D36-43AD-9421-D6A67F41D092}" dt="2026-09-25T16:09:51.251" v="79"/>
        <pc:sldMkLst>
          <pc:docMk/>
          <pc:sldMk cId="2002368865" sldId="320"/>
        </pc:sldMkLst>
        <pc:spChg chg="mod">
          <ac:chgData name="Yang, Keyang" userId="04a9c76f-4fb9-45ac-bd00-4af93feac29c" providerId="ADAL" clId="{96CEFCF6-1D36-43AD-9421-D6A67F41D092}" dt="2026-09-25T16:09:51.251" v="79"/>
          <ac:spMkLst>
            <pc:docMk/>
            <pc:sldMk cId="2002368865" sldId="320"/>
            <ac:spMk id="4" creationId="{00000000-0000-0000-0000-000000000000}"/>
          </ac:spMkLst>
        </pc:spChg>
      </pc:sldChg>
    </pc:docChg>
  </pc:docChgLst>
  <pc:docChgLst>
    <pc:chgData name="Yang, Keyang" userId="04a9c76f-4fb9-45ac-bd00-4af93feac29c" providerId="ADAL" clId="{DA533CA8-565C-41E7-894D-1862444545F7}"/>
    <pc:docChg chg="modSld">
      <pc:chgData name="Yang, Keyang" userId="04a9c76f-4fb9-45ac-bd00-4af93feac29c" providerId="ADAL" clId="{DA533CA8-565C-41E7-894D-1862444545F7}" dt="2026-09-22T19:59:04.156" v="3" actId="403"/>
      <pc:docMkLst>
        <pc:docMk/>
      </pc:docMkLst>
      <pc:sldChg chg="modSp mod">
        <pc:chgData name="Yang, Keyang" userId="04a9c76f-4fb9-45ac-bd00-4af93feac29c" providerId="ADAL" clId="{DA533CA8-565C-41E7-894D-1862444545F7}" dt="2026-09-21T14:04:23.451" v="0" actId="1076"/>
        <pc:sldMkLst>
          <pc:docMk/>
          <pc:sldMk cId="0" sldId="261"/>
        </pc:sldMkLst>
        <pc:spChg chg="mod">
          <ac:chgData name="Yang, Keyang" userId="04a9c76f-4fb9-45ac-bd00-4af93feac29c" providerId="ADAL" clId="{DA533CA8-565C-41E7-894D-1862444545F7}" dt="2026-09-21T14:04:23.451" v="0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DA533CA8-565C-41E7-894D-1862444545F7}" dt="2026-09-22T19:59:04.156" v="3" actId="403"/>
        <pc:sldMkLst>
          <pc:docMk/>
          <pc:sldMk cId="0" sldId="274"/>
        </pc:sldMkLst>
        <pc:spChg chg="mod">
          <ac:chgData name="Yang, Keyang" userId="04a9c76f-4fb9-45ac-bd00-4af93feac29c" providerId="ADAL" clId="{DA533CA8-565C-41E7-894D-1862444545F7}" dt="2026-09-22T19:59:04.156" v="3" actId="403"/>
          <ac:spMkLst>
            <pc:docMk/>
            <pc:sldMk cId="0" sldId="274"/>
            <ac:spMk id="4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41A86-403B-40A9-86A0-1D40AD0BB18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210C-6A70-4F07-986A-F4025FE11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ETF Performance Evaluation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&amp; Bond Screening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60520"/>
            <a:ext cx="1051560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FINA 4126  |  FactSet Exercises  |  Concept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Part 1: Bond Screening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60520"/>
            <a:ext cx="1051560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FactSet Debt Screening  |  Screening tab, Q1–Q14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Why Screen Bonds?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One issuer may have dozens of outstanding bonds with very different terms.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screen narrows that set to the bonds that fit your objective.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Filters define the universe: issuer, currency, coupon type, maturity, size, and embedded options.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Screening finds relevant candidates; you still have to analyze how they differ.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Why One Issuer’s Bonds Yield Differently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Maturity and duration:</a:t>
            </a:r>
            <a:r>
              <a:rPr sz="2800" b="0">
                <a:solidFill>
                  <a:srgbClr val="000000"/>
                </a:solidFill>
                <a:latin typeface="Arial"/>
              </a:rPr>
              <a:t> different interest-rate exposure.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Coupon and price:</a:t>
            </a:r>
            <a:r>
              <a:rPr sz="2800" b="0">
                <a:solidFill>
                  <a:srgbClr val="000000"/>
                </a:solidFill>
                <a:latin typeface="Arial"/>
              </a:rPr>
              <a:t> different timing and mix of cash flows.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Call or put features:</a:t>
            </a:r>
            <a:r>
              <a:rPr sz="2800" b="0">
                <a:solidFill>
                  <a:srgbClr val="000000"/>
                </a:solidFill>
                <a:latin typeface="Arial"/>
              </a:rPr>
              <a:t> optionality shifts between issuer and investor.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Seniority and collateral:</a:t>
            </a:r>
            <a:r>
              <a:rPr sz="2800" b="0">
                <a:solidFill>
                  <a:srgbClr val="000000"/>
                </a:solidFill>
                <a:latin typeface="Arial"/>
              </a:rPr>
              <a:t> different recovery if the issuer defaults.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Issue size and liquidity:</a:t>
            </a:r>
            <a:r>
              <a:rPr sz="2800" b="0">
                <a:solidFill>
                  <a:srgbClr val="000000"/>
                </a:solidFill>
                <a:latin typeface="Arial"/>
              </a:rPr>
              <a:t> how easily the bond actually trades.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Each screen field is a real reason two bonds price differently.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Setting Up the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52349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Issuer filters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Issuer Type: Corporate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Country of Risk: United States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Sector: Consumer Durables</a:t>
            </a:r>
          </a:p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Redemption filters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Puttable: Non-Puttable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Convertible: Non-Convertible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2220" y="1500000"/>
            <a:ext cx="52349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Bond Details filters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Issue Currency: U.S. Dollar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Coupon Type: Fixed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Issue Date: 1/1/2025 to 1/1/2026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Years to Maturity: 3 to 7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Amount Out. (MM): Max 1,000</a:t>
            </a:r>
          </a:p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Start:</a:t>
            </a:r>
            <a:r>
              <a:rPr sz="2600" b="0">
                <a:solidFill>
                  <a:srgbClr val="000000"/>
                </a:solidFill>
                <a:latin typeface="Arial"/>
              </a:rPr>
              <a:t> Screening → Debt → Starter Screen (Corporate/Govt/Agency)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Q1–Q2: Reading a Sorted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screen returns only bonds that pass every filter at once; missing one filter changes the list.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Sort by Amount Outstanding (MM), largest first. This ranks issues by deal size, not credit quality.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Read the list top-down: row 1 is the largest issue in the filtered set, row 2 the next largest.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Duplicate rows for one bond can be separate registration lines (144A vs Reg S), not separate debt.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Q3: Below Par vs At Par vs Above Par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Bond prices are quoted as a percentage of face value, where par = 100.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Below par (discount):</a:t>
            </a:r>
            <a:r>
              <a:rPr sz="2800" b="0">
                <a:solidFill>
                  <a:srgbClr val="000000"/>
                </a:solidFill>
                <a:latin typeface="Arial"/>
              </a:rPr>
              <a:t> price &lt; 100, so the required yield exceeds the coupon rate.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At par:</a:t>
            </a:r>
            <a:r>
              <a:rPr sz="2800" b="0">
                <a:solidFill>
                  <a:srgbClr val="000000"/>
                </a:solidFill>
                <a:latin typeface="Arial"/>
              </a:rPr>
              <a:t> price = 100, so yield is approximately equal to the coupon rate.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Above par (premium):</a:t>
            </a:r>
            <a:r>
              <a:rPr sz="2800" b="0">
                <a:solidFill>
                  <a:srgbClr val="000000"/>
                </a:solidFill>
                <a:latin typeface="Arial"/>
              </a:rPr>
              <a:t> price &gt; 100, so the required yield is below the coupon rate.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For “issued at a discount,” check the Issue Price, not today’s price.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Q4: Coupon Frequency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Coupon frequency is how often the bond pays interest: annually, semiannually, quarterly, or monthly.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Most U.S. corporate bonds pay semiannually, but always check Payment Frequency in the Security Overview.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Frequency changes when you receive cash, not the stated annual coupon rate.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Example: a 6% semiannual bond pays 3% of face value every six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Q5: Call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call feature gives the issuer the right, but not the obligation, to redeem the bond before maturity.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Issuers tend to call when rates fall, leaving investors to reinvest at lower yields.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Early return of principal is therefore not a benefit to the investor.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Because the option favors the issuer, investors demand extra yield for callable bonds.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Look for call schedules and redemption provisions in the Security Overview.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56032"/>
            <a:ext cx="14630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latin typeface="Arial"/>
              </a:rPr>
              <a:t>Poll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Concept: Puttable Bonds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puttable bond lets the investor sell the bond back to the issuer, often at par, on set dates.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put protects the investor if rates rise or credit quality deteriorates.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Because that option favors the investor, puttable bonds carry lower yields.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call is the issuer’s option; a put is the investor’s option. They push yields in opposite directions.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Q6: Convertible Bonds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convertible bond can be exchanged for a preset number of the issuer’s common shares.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combines bond-like downside protection with equity-like upside.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conversion option is valuable to investors, so convertibles pay lower coupons.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Check the Convertible field in the Security Overview, and recall the redemption filters you applied.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Q7: Seniority and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Seniority</a:t>
            </a:r>
            <a:r>
              <a:rPr sz="2800" b="0">
                <a:solidFill>
                  <a:srgbClr val="000000"/>
                </a:solidFill>
                <a:latin typeface="Arial"/>
              </a:rPr>
              <a:t> is the priority of a claim in bankruptcy: senior debt is paid before subordinated debt.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Secured</a:t>
            </a:r>
            <a:r>
              <a:rPr sz="2800" b="0">
                <a:solidFill>
                  <a:srgbClr val="000000"/>
                </a:solidFill>
                <a:latin typeface="Arial"/>
              </a:rPr>
              <a:t> means specific assets are pledged as collateral; unsecured debt relies on the issuer’s general assets.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Seniority and security are two separate labels. Read both fields in the Security Overview.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Higher priority plus collateral means higher expected recovery in default, and therefore a lower yield.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Q8: Maturity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Maturity price</a:t>
            </a:r>
            <a:r>
              <a:rPr sz="2800" b="0">
                <a:solidFill>
                  <a:srgbClr val="000000"/>
                </a:solidFill>
                <a:latin typeface="Arial"/>
              </a:rPr>
              <a:t> (redemption value) is the amount repaid at maturity.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Like bond prices, it is quoted as a percentage of par (per 100 of face value).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Example: on a $1,000 face-value bond, a maturity price of 105 means $1,050 is repaid.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Most ordinary corporate bonds repay principal at par; some structured notes differ.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Q9: Discount Issuance and Yield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</a:t>
            </a:r>
            <a:r>
              <a:rPr sz="2800" b="1">
                <a:solidFill>
                  <a:srgbClr val="000000"/>
                </a:solidFill>
                <a:latin typeface="Arial"/>
              </a:rPr>
              <a:t>coupon rate</a:t>
            </a:r>
            <a:r>
              <a:rPr sz="2800" b="0">
                <a:solidFill>
                  <a:srgbClr val="000000"/>
                </a:solidFill>
                <a:latin typeface="Arial"/>
              </a:rPr>
              <a:t> is fixed at issuance as a percentage of face value.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Yield to maturity</a:t>
            </a:r>
            <a:r>
              <a:rPr sz="2800" b="0">
                <a:solidFill>
                  <a:srgbClr val="000000"/>
                </a:solidFill>
                <a:latin typeface="Arial"/>
              </a:rPr>
              <a:t> is the return the market requires, given the price paid and the remaining cash flows.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buyer at a discount earns the coupon plus a pull-to-par gain at maturity.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low price is not automatically a bargain: it may reflect a below-market coupon or higher credit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Q10: Make-Whole Call Provisions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make-whole call lets the issuer redeem early but compensates investors for lost coupons.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Redemption price = the greater of par or the PV of remaining cash flows, discounted at a Treasury yield plus a small spread.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Because it is costly, issuers use it mainly in corporate events such as acquisitions, not just to refinance.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Many bonds also have a separate par call just before maturity. Read the full schedule.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Q11: Annual Coupon Payment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coupon rate is an annual rate applied to </a:t>
            </a:r>
            <a:r>
              <a:rPr sz="2800" b="1">
                <a:solidFill>
                  <a:srgbClr val="000000"/>
                </a:solidFill>
                <a:latin typeface="Arial"/>
              </a:rPr>
              <a:t>face value</a:t>
            </a:r>
            <a:r>
              <a:rPr sz="2800" b="0">
                <a:solidFill>
                  <a:srgbClr val="000000"/>
                </a:solidFill>
                <a:latin typeface="Arial"/>
              </a:rPr>
              <a:t>, not to the price paid.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Annual coupon ($) = face value × coupon rate.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semiannual bond splits that amount into two equal payments.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Example: a 4% coupon on $1,000 face value pays $40 per year, or $20 every six months.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price you pay changes your yield, not the coupon dollars you receive.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Q12: Credit Ratings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rating is an agency’s opinion of default risk and expected loss.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S&amp;P scale: AAA, AA, A, BBB, BB, B, CCC … D; “+” and “–” refine each category.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Investment grade:</a:t>
            </a:r>
            <a:r>
              <a:rPr sz="2800" b="0">
                <a:solidFill>
                  <a:srgbClr val="000000"/>
                </a:solidFill>
                <a:latin typeface="Arial"/>
              </a:rPr>
              <a:t> BBB– and above. </a:t>
            </a:r>
            <a:r>
              <a:rPr sz="2800" b="1">
                <a:solidFill>
                  <a:srgbClr val="000000"/>
                </a:solidFill>
                <a:latin typeface="Arial"/>
              </a:rPr>
              <a:t>High yield:</a:t>
            </a:r>
            <a:r>
              <a:rPr sz="2800" b="0">
                <a:solidFill>
                  <a:srgbClr val="000000"/>
                </a:solidFill>
                <a:latin typeface="Arial"/>
              </a:rPr>
              <a:t> BB+ and below.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Read the S&amp;P rating for this bond in FactSet; Moody’s uses a different scale (e.g., Baa2).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same rating does not mean the same yield: maturity, seniority, liquidity, and options differ.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What YTM Does and Does Not Tell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YTM is the rate that sets the present value of promised cash flows equal to price.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assumes the bond is held to maturity and every payment arrives in full and on time.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assumes interim coupons are reinvested at the YTM itself.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Default, an early call, or different reinvestment rates all change the realized return.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YTM is a promised return under these assumptions, not a guaranteed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56032"/>
            <a:ext cx="14630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latin typeface="Arial"/>
              </a:rPr>
              <a:t>Poll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Q13: Comparing Yields Across Issuers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YTM ≈ Treasury yield of similar maturity + a spread.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spread compensates investors for default risk, expected recovery, liquidity, and embedded options.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Coupon, price, and YTM are linked; the coupon alone does not set the yield.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Hold contractual terms constant (currency, coupon type, maturity), then ask what is left to explain the gap.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yield gap is market compensation for risk, not a standalone ranking of issuer quality.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Q14: Interpreting OAS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yield spread compensates for credit risk, liquidity risk, and embedded options.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OAS (option-adjusted spread)</a:t>
            </a:r>
            <a:r>
              <a:rPr sz="2800" b="0">
                <a:solidFill>
                  <a:srgbClr val="000000"/>
                </a:solidFill>
                <a:latin typeface="Arial"/>
              </a:rPr>
              <a:t> removes the value of embedded options, such as a call.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That makes OAS more comparable across bonds with different option features.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wider OAS means investors require more compensation for the bond’s remaining risks.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OAS is model-based: it signals risk but does not name the source.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Part 2: GM Credit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60520"/>
            <a:ext cx="1051560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FactSet Credit Analysis  |  CreditAnalysis tab, Q1–Q17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Why Credit Analysis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Credit analysis asks whether a company can service and repay its debt.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drives deal structure, achievable leverage, ratings, and financing cost.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In LBOs it sets how much debt a capital structure can realistically carry.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exhibits are historical snapshots and may differ from live FactSet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Framework: Five Creditor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Capacity:</a:t>
            </a:r>
            <a:r>
              <a:rPr sz="2800" b="0">
                <a:solidFill>
                  <a:srgbClr val="000000"/>
                </a:solidFill>
                <a:latin typeface="Arial"/>
              </a:rPr>
              <a:t> does cash flow cover the debt? Leverage and EBITDA (Q1–Q2, Q9)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Liquidity:</a:t>
            </a:r>
            <a:r>
              <a:rPr sz="2800" b="0">
                <a:solidFill>
                  <a:srgbClr val="000000"/>
                </a:solidFill>
                <a:latin typeface="Arial"/>
              </a:rPr>
              <a:t> can near-term obligations be met? Cash and revolvers (Q3–Q5)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Structure and refinancing:</a:t>
            </a:r>
            <a:r>
              <a:rPr sz="2800" b="0">
                <a:solidFill>
                  <a:srgbClr val="000000"/>
                </a:solidFill>
                <a:latin typeface="Arial"/>
              </a:rPr>
              <a:t> who is paid first, and when is principal due? (Q6–Q8)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Market view:</a:t>
            </a:r>
            <a:r>
              <a:rPr sz="2800" b="0">
                <a:solidFill>
                  <a:srgbClr val="000000"/>
                </a:solidFill>
                <a:latin typeface="Arial"/>
              </a:rPr>
              <a:t> how is the credit priced today? CDS and bond prices (Q10–Q14)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Cost of capital:</a:t>
            </a:r>
            <a:r>
              <a:rPr sz="2800" b="0">
                <a:solidFill>
                  <a:srgbClr val="000000"/>
                </a:solidFill>
                <a:latin typeface="Arial"/>
              </a:rPr>
              <a:t> what does debt cost the firm? (Q15–Q17)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Q1: Backing Out Implied EBITDA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Leverage is reported as Total Debt / LTM EBITDA, so EBITDA is not shown directly.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Rearrange the ratio: implied EBITDA = Total Debt ÷ (Total Debt / LTM EBITDA).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Example: debt of 12,000 at 1.50x implies EBITDA of about 8,000.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Compute it at each date, then compare: did EBITDA rise or fall?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Multiples are rounded to two decimals, so the results are approximate.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Q2: Debt Flat but Leverage Rising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ratio can move only through its numerator, its denominator, or both.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Check the numerator first: how much did Total Debt change?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Then ask what must have happened to the denominator. Your Q1 results help.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In practice, acquisitions, lease accounting, and definition changes can also move leverage.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56032"/>
            <a:ext cx="14630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latin typeface="Arial"/>
              </a:rPr>
              <a:t>Poll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Q3: Sources of Liquidity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Liquidity is the ability to meet near-term obligations without forced asset sales.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Total liquidity = cash and short-term investments + undrawn committed revolvers.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Revolver availability is net of drawn amounts and letters of credit.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Compare each line, not just the total.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Cash is on hand; revolver capacity is a bank’s promise, often with covenants.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Q4: Short-Term vs Long-Term Revolvers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revolver is a committed bank facility: draw, repay, and redraw up to a limit.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</a:t>
            </a:r>
            <a:r>
              <a:rPr sz="2800" b="1">
                <a:solidFill>
                  <a:srgbClr val="000000"/>
                </a:solidFill>
                <a:latin typeface="Arial"/>
              </a:rPr>
              <a:t>commitment period</a:t>
            </a:r>
            <a:r>
              <a:rPr sz="2800" b="0">
                <a:solidFill>
                  <a:srgbClr val="000000"/>
                </a:solidFill>
                <a:latin typeface="Arial"/>
              </a:rPr>
              <a:t> is how long banks promise to keep that capacity available.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Each </a:t>
            </a:r>
            <a:r>
              <a:rPr sz="2800" b="1">
                <a:solidFill>
                  <a:srgbClr val="000000"/>
                </a:solidFill>
                <a:latin typeface="Arial"/>
              </a:rPr>
              <a:t>draw</a:t>
            </a:r>
            <a:r>
              <a:rPr sz="2800" b="0">
                <a:solidFill>
                  <a:srgbClr val="000000"/>
                </a:solidFill>
                <a:latin typeface="Arial"/>
              </a:rPr>
              <a:t> is a separate borrowing, often repaid within days or months.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longer commitment is more valuable to the borrower but costs more in fees.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Ask: which of these two “terms” does the label describe?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Q5: Notes, Term Loans, and Revolvers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Notes/bonds:</a:t>
            </a:r>
            <a:r>
              <a:rPr sz="2800" b="0">
                <a:solidFill>
                  <a:srgbClr val="000000"/>
                </a:solidFill>
                <a:latin typeface="Arial"/>
              </a:rPr>
              <a:t> securities sold to capital-market investors, not bank facilities.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Term loan:</a:t>
            </a:r>
            <a:r>
              <a:rPr sz="2800" b="0">
                <a:solidFill>
                  <a:srgbClr val="000000"/>
                </a:solidFill>
                <a:latin typeface="Arial"/>
              </a:rPr>
              <a:t> borrowed in full up front, then amortized or repaid at maturity; repaid principal is gone.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Revolver:</a:t>
            </a:r>
            <a:r>
              <a:rPr sz="2800" b="0">
                <a:solidFill>
                  <a:srgbClr val="000000"/>
                </a:solidFill>
                <a:latin typeface="Arial"/>
              </a:rPr>
              <a:t> capacity that can be drawn, repaid, and redrawn during the commitment period.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Only drawn amounts are reported as debt; undrawn capacity is a liquidity source.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Q6: Reading the Seniority Mix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Seniority sets the order in which creditors are repaid in bankruptcy.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Secured and collateralized debt is backed by pledged assets; senior unsecured debt relies on general firm value.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Check the denominator: what total is each percentage measured against?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When a question asks about all collateral-backed debt, add the relevant classes together.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Q7: Measuring Maturity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Refinancing risk:</a:t>
            </a:r>
            <a:r>
              <a:rPr sz="2800" b="0">
                <a:solidFill>
                  <a:srgbClr val="000000"/>
                </a:solidFill>
                <a:latin typeface="Arial"/>
              </a:rPr>
              <a:t> maturing debt may not be replaceable, or only on worse terms.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Concentration = amount due in a window ÷ total scheduled maturities.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Use dollar amounts (USD mm), not the number of instruments, unless asked for a count.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In Excel: =SUM(amounts in the window) / total, referencing the exhibit cells.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Format the answer as a percentage with two decimals.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Q8: Comparing Refinancing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more principal due in a window, the more debt must be rolled over at once.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Compare windows on the same basis: total amount due in each.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Near-term maturities also leave less time to prepare or wait for better markets.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laddered profile spreads maturities out, so no single year carries too much.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Laddering limits refinancing risk; it does not eliminate it or guarantee lower rates.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Q9: LTM vs NTM EBITDA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LTM:</a:t>
            </a:r>
            <a:r>
              <a:rPr sz="2800" b="0">
                <a:solidFill>
                  <a:srgbClr val="000000"/>
                </a:solidFill>
                <a:latin typeface="Arial"/>
              </a:rPr>
              <a:t> the last twelve months of reported results.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NTM:</a:t>
            </a:r>
            <a:r>
              <a:rPr sz="2800" b="0">
                <a:solidFill>
                  <a:srgbClr val="000000"/>
                </a:solidFill>
                <a:latin typeface="Arial"/>
              </a:rPr>
              <a:t> a consensus analyst forecast of the next twelve months.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For each, ask: is it realized or expected, and how reliable is it?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NTM leverage looks lower when earnings are expected to grow.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LTM tells you where the firm has been; NTM tells you where analysts think it is going.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Q10: What a CDS Spread Represents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</a:t>
            </a:r>
            <a:r>
              <a:rPr sz="2800" b="1">
                <a:solidFill>
                  <a:srgbClr val="000000"/>
                </a:solidFill>
                <a:latin typeface="Arial"/>
              </a:rPr>
              <a:t>credit default swap</a:t>
            </a:r>
            <a:r>
              <a:rPr sz="2800" b="0">
                <a:solidFill>
                  <a:srgbClr val="000000"/>
                </a:solidFill>
                <a:latin typeface="Arial"/>
              </a:rPr>
              <a:t> works like insurance on a bond issuer.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protection buyer pays a periodic premium; the seller pays out if a default or other credit event occurs.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spread is quoted in basis points per year of the notional amount protected (1 bp = 0.01%).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Example: a 100 bp spread on $10 million of protection costs about $100,000 per year.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Q11 &amp; Q13: Reading CDS Spread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spread is the market’s live price of default protection.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Widening (rising):</a:t>
            </a:r>
            <a:r>
              <a:rPr sz="2800" b="0">
                <a:solidFill>
                  <a:srgbClr val="000000"/>
                </a:solidFill>
                <a:latin typeface="Arial"/>
              </a:rPr>
              <a:t> protection costs more; the market sees higher default risk or lower recovery.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Narrowing (tightening):</a:t>
            </a:r>
            <a:r>
              <a:rPr sz="2800" b="0">
                <a:solidFill>
                  <a:srgbClr val="000000"/>
                </a:solidFill>
                <a:latin typeface="Arial"/>
              </a:rPr>
              <a:t> protection costs less; the market sees lower risk.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spread move is a signal to investigate in context, not the full credit story.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CDS spreads update continuously and often move before rating agencies act.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Q12: Share Price and CDS Spread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Shareholders are paid after creditors, so equity is worth more when the firm is healthier.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CDS sellers lose if the firm defaults, so they charge less when default looks less likely.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Both prices respond to the same news about firm fundamentals, but in opposite directions.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relationship is economic, not contractual or mechanical.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Q14: Coupon vs Yield from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Exhibit 6 prices are quoted per 100 of par.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You do not need to compute YTM: compare each price with 100.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Coupons are fixed at issuance and reflect market conditions on the day each bond was sold.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Recall the rule from Part 1: premium, par, and discount prices tell you how coupon compares with yield.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Q15: After-Tax Cost of Debt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Interest is tax-deductible, so the effective cost of debt is below its pre-tax rate.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After-tax cost of debt = pre-tax cost × (1 – tax rate).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bond’s YTM is a market-based estimate of the pre-tax cost of debt.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Example: 6.00% YTM and a 20% tax rate → 6.00% × 0.80 = 4.80%.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Enter a formula referencing Exhibit 7 cells; display as a percentage with two decimals.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Q16: Historical Cost of Debt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Historical pre-tax cost of debt = interest expense ÷ average total debt.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Averaging beginning and ending debt matches a full year of interest to the debt outstanding during that year.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In Excel: =interest expense / AVERAGE(debt at start, debt at end).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reflects coupons locked in at past issuance, so it can differ from today’s market yield.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Q17: Weighted Average Cost of Capital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WACC blends the after-tax cost of debt and the cost of equity by their capital weights.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WACC = w(D) × cost of debt × (1 – tax rate) + w(E) × cost of equity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w(D) = debt / total capital. With only debt and equity, w(E) = 1 – w(D).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Use the cost of debt the question specifies (Treasury + BBB spread), not the YTM or historical rate.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Part 3: ARKK ETF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60520"/>
            <a:ext cx="1051560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FactSet Fund and Portfolio Analysis  |  ARKK tab, Q1–Q13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Background: ARK Invest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6949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ARK earns revenue from management fees on its actively managed ETFs.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Those funds charge about 0.75% a year, or $7.5 million per $1 billion of assets.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Barron’s reported in 2020 that Cathie Wood owned 50%–75% of ARK.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Her own capital in the funds is not publicly disclosed.</a:t>
            </a:r>
          </a:p>
        </p:txBody>
      </p:sp>
      <p:pic>
        <p:nvPicPr>
          <p:cNvPr id="5" name="Picture 4" descr="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591440"/>
            <a:ext cx="36576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98932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Source: thestreet.com/personalities/cathie-wood-net-worth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Framework: Evaluating an Active ETF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Strategy and cost:</a:t>
            </a:r>
            <a:r>
              <a:rPr sz="2800" b="0">
                <a:solidFill>
                  <a:srgbClr val="000000"/>
                </a:solidFill>
                <a:latin typeface="Arial"/>
              </a:rPr>
              <a:t> what is the manager doing, and what does it cost? (Q1–Q3)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Exposures:</a:t>
            </a:r>
            <a:r>
              <a:rPr sz="2800" b="0">
                <a:solidFill>
                  <a:srgbClr val="000000"/>
                </a:solidFill>
                <a:latin typeface="Arial"/>
              </a:rPr>
              <a:t> which sectors, valuations, and profitability result? (Q4–Q7)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Active risk:</a:t>
            </a:r>
            <a:r>
              <a:rPr sz="2800" b="0">
                <a:solidFill>
                  <a:srgbClr val="000000"/>
                </a:solidFill>
                <a:latin typeface="Arial"/>
              </a:rPr>
              <a:t> how far from the benchmark, and where? (Q8–Q9)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Results:</a:t>
            </a:r>
            <a:r>
              <a:rPr sz="2800" b="0">
                <a:solidFill>
                  <a:srgbClr val="000000"/>
                </a:solidFill>
                <a:latin typeface="Arial"/>
              </a:rPr>
              <a:t> how did the fund do, and was it allocation or selection? (Q10–Q13)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An active fund charges more; the question is whether its bets justified that fee and risk.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FactSet Setup: Portfolio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Template: Equity (Analyst). Enter the fund (ARKK-US) and benchmark (QQQ-US).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Switch sectors to FactSet so names match the dropdowns:</a:t>
            </a:r>
          </a:p>
          <a:p>
            <a:pPr marL="900000" indent="-380000">
              <a:buFont typeface="Arial"/>
              <a:buChar char="–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Click an “Economic Sector – GICS – Multi Sourced” link → Groupings.</a:t>
            </a:r>
          </a:p>
          <a:p>
            <a:pPr marL="900000" indent="-380000">
              <a:buFont typeface="Arial"/>
              <a:buChar char="–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Sector &amp; Industry → FactSet → add “Economic Sector – FactSet”; remove the GICS grouping.</a:t>
            </a:r>
          </a:p>
          <a:p>
            <a:pPr marL="900000" indent="-380000">
              <a:buFont typeface="Arial"/>
              <a:buChar char="–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“Apply to Weights” → check “Apply to All Tiles” → Ok.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Data date: 30-JUN-2026. Performance period: 31-DEC-2025 to 30-JUN-2026.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000000"/>
                </a:solidFill>
                <a:latin typeface="Arial"/>
              </a:rPr>
              <a:t>Use a single reporting frequency for fund and benchmark.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Q1: Active vs Passive, Thematic, High Conviction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Passive</a:t>
            </a:r>
            <a:r>
              <a:rPr sz="2800" b="0">
                <a:solidFill>
                  <a:srgbClr val="000000"/>
                </a:solidFill>
                <a:latin typeface="Arial"/>
              </a:rPr>
              <a:t> funds track an index; </a:t>
            </a:r>
            <a:r>
              <a:rPr sz="2800" b="1">
                <a:solidFill>
                  <a:srgbClr val="000000"/>
                </a:solidFill>
                <a:latin typeface="Arial"/>
              </a:rPr>
              <a:t>active</a:t>
            </a:r>
            <a:r>
              <a:rPr sz="2800" b="0">
                <a:solidFill>
                  <a:srgbClr val="000000"/>
                </a:solidFill>
                <a:latin typeface="Arial"/>
              </a:rPr>
              <a:t> funds choose and weight their own holdings.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Thematic</a:t>
            </a:r>
            <a:r>
              <a:rPr sz="2800" b="0">
                <a:solidFill>
                  <a:srgbClr val="000000"/>
                </a:solidFill>
                <a:latin typeface="Arial"/>
              </a:rPr>
              <a:t> funds invest around a long-term theme rather than a sector or style.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High conviction</a:t>
            </a:r>
            <a:r>
              <a:rPr sz="2800" b="0">
                <a:solidFill>
                  <a:srgbClr val="000000"/>
                </a:solidFill>
                <a:latin typeface="Arial"/>
              </a:rPr>
              <a:t> means concentrated in the manager’s strongest ideas: fewer names, larger weights.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Read the Fund Overview and Fund Insight text, not just the fund name, and match its language to these terms.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Q2: How Funds Use ESG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buNone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Funds apply ESG in different ways: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Exclusion screen:</a:t>
            </a:r>
            <a:r>
              <a:rPr sz="2800" b="0">
                <a:solidFill>
                  <a:srgbClr val="000000"/>
                </a:solidFill>
                <a:latin typeface="Arial"/>
              </a:rPr>
              <a:t> certain companies cannot be held.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Primary criterion:</a:t>
            </a:r>
            <a:r>
              <a:rPr sz="2800" b="0">
                <a:solidFill>
                  <a:srgbClr val="000000"/>
                </a:solidFill>
                <a:latin typeface="Arial"/>
              </a:rPr>
              <a:t> ESG drives what is selected.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Integration:</a:t>
            </a:r>
            <a:r>
              <a:rPr sz="2800" b="0">
                <a:solidFill>
                  <a:srgbClr val="000000"/>
                </a:solidFill>
                <a:latin typeface="Arial"/>
              </a:rPr>
              <a:t> ESG is one input among others in the research process.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Not considered:</a:t>
            </a:r>
            <a:r>
              <a:rPr sz="2800" b="0">
                <a:solidFill>
                  <a:srgbClr val="000000"/>
                </a:solidFill>
                <a:latin typeface="Arial"/>
              </a:rPr>
              <a:t> ESG plays no role.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Read the fund description carefully: “primary” and “secondary” mean different things.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Q3: Expense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expense ratio is the annual cost of owning the fund, as a percentage of assets.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Active funds typically charge more to cover research and trading; index funds charge less.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QQQ passively tracks the Nasdaq-100.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Confirm with the actual figures in FactSet rather than assuming.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higher fee means the fund needs higher gross returns just to match a cheaper alternative.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Q4: Most Overweight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Overweight:</a:t>
            </a:r>
            <a:r>
              <a:rPr sz="2800" b="0">
                <a:solidFill>
                  <a:srgbClr val="000000"/>
                </a:solidFill>
                <a:latin typeface="Arial"/>
              </a:rPr>
              <a:t> the fund’s sector weight exceeds the benchmark’s weight.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number that matters is the difference: fund weight – benchmark weight.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Rank by the largest positive difference, not by the largest raw weight.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Overweights are deliberate bets that a sector will outperform.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Q5: Most Underweight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Underweight:</a:t>
            </a:r>
            <a:r>
              <a:rPr sz="2800" b="0">
                <a:solidFill>
                  <a:srgbClr val="000000"/>
                </a:solidFill>
                <a:latin typeface="Arial"/>
              </a:rPr>
              <a:t> the fund’s sector weight is below the benchmark’s weight.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most underweight sector has the most negative fund – benchmark difference.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sector the fund does not hold at all can still be its largest underweight.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An underweight is a bet against a sector: it pays off when that sector lags and hurts when it leads.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Q6: Valuation Using Historical P/E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P/E compares price with earnings; a higher P/E is a more expensive valuation.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Historical (trailing) P/E</a:t>
            </a:r>
            <a:r>
              <a:rPr sz="2800" b="0">
                <a:solidFill>
                  <a:srgbClr val="000000"/>
                </a:solidFill>
                <a:latin typeface="Arial"/>
              </a:rPr>
              <a:t> uses actual reported earnings.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FY1 and FY2 P/E use analyst forecasts instead, and will differ.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Use the historical P/E under Summary Characteristics, regardless of its “Available” coverage.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Q7: Profitability and ROE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Return on equity</a:t>
            </a:r>
            <a:r>
              <a:rPr sz="2800" b="0">
                <a:solidFill>
                  <a:srgbClr val="000000"/>
                </a:solidFill>
                <a:latin typeface="Arial"/>
              </a:rPr>
              <a:t> = net income ÷ shareholders’ equity.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Higher portfolio ROE means the holdings earn more current accounting profit per dollar of book equity.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Weighting, negative book equity, and sector mix all affect the portfolio figure.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ROE describes the kind of company the strategy holds, not whether it is a better investment.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Q8: Active Share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Active share measures how far portfolio weights sit from benchmark weights.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Active share = ½ × Σ | fund weight – benchmark weight |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runs from 0% (identical to the benchmark) to 100% (no overlap).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Higher active share creates more room for large out- or underperformance.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measures difference, not skill: high active share does not mean good bets.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56032"/>
            <a:ext cx="14630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latin typeface="Arial"/>
              </a:rPr>
              <a:t>Poll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Active Share: Cutoff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Cremers and Petajisto (2009) classify funds by active share: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322960"/>
          <a:ext cx="10927079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59582"/>
                <a:gridCol w="7867497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1">
                          <a:solidFill>
                            <a:srgbClr val="000000"/>
                          </a:solidFill>
                          <a:latin typeface="Arial"/>
                        </a:rPr>
                        <a:t>Active Share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1">
                          <a:solidFill>
                            <a:srgbClr val="000000"/>
                          </a:solidFill>
                          <a:latin typeface="Arial"/>
                        </a:rPr>
                        <a:t>Interpretation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80% and above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Very actively managed (stock picker)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60% to 80%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Moderately active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20% to 60%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Closet indexer: charges active fees, stays close to the index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Below 20%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0">
                          <a:solidFill>
                            <a:srgbClr val="000000"/>
                          </a:solidFill>
                          <a:latin typeface="Arial"/>
                        </a:rPr>
                        <a:t>Index-like (passive)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Q9: Active Share by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Sector-level active share shows which sectors drive the fund’s overall deviation.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Use the table’s contribution figure, not the headline sector weights.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can come from a big weight difference, different names, or both.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It pinpoints where the manager’s active bets are concentrated.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Q10: Performance vs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Cumulative total return includes price change plus reinvested distributions.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Relative performance = fund return – benchmark return.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State the gap in </a:t>
            </a:r>
            <a:r>
              <a:rPr sz="2800" b="1">
                <a:solidFill>
                  <a:srgbClr val="000000"/>
                </a:solidFill>
                <a:latin typeface="Arial"/>
              </a:rPr>
              <a:t>percentage points</a:t>
            </a:r>
            <a:r>
              <a:rPr sz="2800" b="0">
                <a:solidFill>
                  <a:srgbClr val="000000"/>
                </a:solidFill>
                <a:latin typeface="Arial"/>
              </a:rPr>
              <a:t>: 12% – 8% = 4 pp (not 50%).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negative difference means the fund underperformed over that window.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Always state the period; results change substantially across time windows.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Q11: Allocation vs Selection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Attribution breaks relative return into allocation and selection effects.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Allocation:</a:t>
            </a:r>
            <a:r>
              <a:rPr sz="2800" b="0">
                <a:solidFill>
                  <a:srgbClr val="000000"/>
                </a:solidFill>
                <a:latin typeface="Arial"/>
              </a:rPr>
              <a:t> value added by over- or underweighting sectors.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Selection:</a:t>
            </a:r>
            <a:r>
              <a:rPr sz="2800" b="0">
                <a:solidFill>
                  <a:srgbClr val="000000"/>
                </a:solidFill>
                <a:latin typeface="Arial"/>
              </a:rPr>
              <a:t> value added by stock picks within each sector.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positive effect added to relative return; a negative effect subtracted from it.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two can pull in opposite directions and roughly sum to the total relative return.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Q12: Sector Selection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Selection effect asks whether the fund’s picks within a sector beat the benchmark’s holdings there.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strongest sector is the one with the largest positive selection effect.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This isolates stock picking from sector-weighting decisions.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 sector can show strong selection even while its allocation effect is negative.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Selection can be positive even when the fund lags the benchmark overall.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Q13: Largest Active Contributor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An active contributor added to return relative to the benchmark.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Positive active contribution comes from overweighting a winner or underweighting a loser.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Rank by variation in contribution to return: the active, not absolute, figure.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top contributor shows how much relative performance depended on one name.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Part 4: JEPI ETF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60520"/>
            <a:ext cx="1051560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FactSet Fund and Portfolio Analysis  |  JEPI tab, Q1–Q13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JEPI: Same Workflow, New Fund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Repeat the ARKK steps with fund </a:t>
            </a:r>
            <a:r>
              <a:rPr sz="2800" b="1">
                <a:solidFill>
                  <a:srgbClr val="000000"/>
                </a:solidFill>
                <a:latin typeface="Arial"/>
              </a:rPr>
              <a:t>JEPI-US</a:t>
            </a:r>
            <a:r>
              <a:rPr sz="2800" b="0">
                <a:solidFill>
                  <a:srgbClr val="000000"/>
                </a:solidFill>
                <a:latin typeface="Arial"/>
              </a:rPr>
              <a:t> and benchmark </a:t>
            </a:r>
            <a:r>
              <a:rPr sz="2800" b="1">
                <a:solidFill>
                  <a:srgbClr val="000000"/>
                </a:solidFill>
                <a:latin typeface="Arial"/>
              </a:rPr>
              <a:t>SPY-US</a:t>
            </a:r>
            <a:r>
              <a:rPr sz="280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Same data date (30-JUN-2026) and period (31-DEC-2025 to 30-JUN-2026).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For sector questions, exclude [Cash] and [Unassigned].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concepts from Part 3 all apply: over/underweights, P/E, ROE, active share, attribution.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Do not assume ARKK’s results carry over. Different strategies produce different answers.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Framework: Evaluating an Income ETF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Start with the stated objective: income, volatility, and equity exposure.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Compare the fund with its assigned benchmark: SPY.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Separate strategy design from realized performance.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Use cumulative </a:t>
            </a:r>
            <a:r>
              <a:rPr sz="2800" b="1">
                <a:solidFill>
                  <a:srgbClr val="000000"/>
                </a:solidFill>
                <a:latin typeface="Arial"/>
              </a:rPr>
              <a:t>total</a:t>
            </a:r>
            <a:r>
              <a:rPr sz="2800" b="0">
                <a:solidFill>
                  <a:srgbClr val="000000"/>
                </a:solidFill>
                <a:latin typeface="Arial"/>
              </a:rPr>
              <a:t> return: income funds pay out much of their return as distributions.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Same toolkit as ARKK: exposures, active share, attribution.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Concept: Options-Based Income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Covered call:</a:t>
            </a:r>
            <a:r>
              <a:rPr sz="2800" b="0">
                <a:solidFill>
                  <a:srgbClr val="000000"/>
                </a:solidFill>
                <a:latin typeface="Arial"/>
              </a:rPr>
              <a:t> own a stock and sell a call option on it; collect premium now, give up gains above the strike.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Equity-linked note (ELN):</a:t>
            </a:r>
            <a:r>
              <a:rPr sz="2800" b="0">
                <a:solidFill>
                  <a:srgbClr val="000000"/>
                </a:solidFill>
                <a:latin typeface="Arial"/>
              </a:rPr>
              <a:t> a bank-issued note whose payoff is tied to an equity index; it can package an option-selling strategy in one security.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Typical result: higher current income, lower volatility, less upside in strong rallies.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Judge an income strategy on return, income, and risk together.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JEPI Q1–Q3: Reading the Fund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Is the fund active or passive? What universe does it select from?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What does it hold besides stocks, and what is that for?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How does ESG enter the process: exclusion, primary criterion, or one input among others?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Answer from the fund description, not from assumptions about the sponsor.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Compare JEPI’s expense ratio with SPY’s using the actual FactSet figures.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What the Terminal Does Not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27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FactSet organizes and reports financial information. It does not perform the analysis.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For every number on screen, ask what is actually being measured.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Ask what drives that number, and what an appropriate comparison would be.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Then ask which conclusion the data supports, and which it does not.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The terminal supplies the number. You supply the interpretation, the comparison, and the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FA29CB-F60B-458A-9B2E-F55CAA3248E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8246a9fe-83ae-435c-9345-067df87f0f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4922</Words>
  <Application>Microsoft Office PowerPoint</Application>
  <PresentationFormat>Widescreen</PresentationFormat>
  <Paragraphs>327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Yang, Keyang</cp:lastModifiedBy>
  <cp:revision>1</cp:revision>
  <dcterms:created xsi:type="dcterms:W3CDTF">2013-01-27T09:14:16Z</dcterms:created>
  <dcterms:modified xsi:type="dcterms:W3CDTF">2026-09-25T16:10:01Z</dcterms:modified>
  <cp:category/>
</cp:coreProperties>
</file>