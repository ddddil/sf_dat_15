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595959"/>
                </a:solidFill>
                <a:latin typeface="Calibri"/>
              </a:rPr>
              <a:t>T/F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00000"/>
                </a:solidFill>
                <a:latin typeface="Calibri"/>
              </a:rPr>
              <a:t>Adding choices can't hurt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91672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No shorting means every weight must be ≥ 0; shorting removes that limit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Every no-short portfolio is still available when shorting is allowed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A bigger menu can only match or beat the best option on a smaller menu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636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000000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313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0" i="0">
                <a:solidFill>
                  <a:srgbClr val="000000"/>
                </a:solidFill>
                <a:latin typeface="Calibri"/>
              </a:rPr>
              <a:t>Row 124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595959"/>
                </a:solidFill>
                <a:latin typeface="Calibri"/>
              </a:rPr>
              <a:t>T/F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00000"/>
                </a:solidFill>
                <a:latin typeface="Calibri"/>
              </a:rPr>
              <a:t>Short losses have no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91672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Long: the price can only fall to $0, so you lose at most what you paid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Short: you must buy the shares back later, and prices have no upper limit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The higher the price climbs, the bigger the loss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636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000000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313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0" i="0">
                <a:solidFill>
                  <a:srgbClr val="000000"/>
                </a:solidFill>
                <a:latin typeface="Calibri"/>
              </a:rPr>
              <a:t>Row 127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595959"/>
                </a:solidFill>
                <a:latin typeface="Calibri"/>
              </a:rPr>
              <a:t>T/F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00000"/>
                </a:solidFill>
                <a:latin typeface="Calibri"/>
              </a:rPr>
              <a:t>Past data is not the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91672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Solver's weights are best only for the 60 months of data it was given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Means, volatilities and correlations change over time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Small errors in the inputs can swing the weights a 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636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000000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313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0" i="0">
                <a:solidFill>
                  <a:srgbClr val="000000"/>
                </a:solidFill>
                <a:latin typeface="Calibri"/>
              </a:rPr>
              <a:t>Row 130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595959"/>
                </a:solidFill>
                <a:latin typeface="Calibri"/>
              </a:rPr>
              <a:t>T/F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00000"/>
                </a:solidFill>
                <a:latin typeface="Calibri"/>
              </a:rPr>
              <a:t>Why the utility portfolio is efficient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91672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Utility rewards return and penalizes variance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A lower-risk portfolio with the same return would have higher utility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Step 11 tests this: compare σp in B105 and B120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636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000000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313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0" i="0">
                <a:solidFill>
                  <a:srgbClr val="000000"/>
                </a:solidFill>
                <a:latin typeface="Calibri"/>
              </a:rPr>
              <a:t>Row 133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595959"/>
                </a:solidFill>
                <a:latin typeface="Calibri"/>
              </a:rPr>
              <a:t>MCQ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00000"/>
                </a:solidFill>
                <a:latin typeface="Calibri"/>
              </a:rPr>
              <a:t>What equal weighting ignores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91672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20% each is chosen without looking at the data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The optimizer uses Σ: which assets move together and which diversify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Using that information cuts risk at the same return (Step 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636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000000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313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0" i="0">
                <a:solidFill>
                  <a:srgbClr val="000000"/>
                </a:solidFill>
                <a:latin typeface="Calibri"/>
              </a:rPr>
              <a:t>Row 136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595959"/>
                </a:solidFill>
                <a:latin typeface="Calibri"/>
              </a:rPr>
              <a:t>MCQ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00000"/>
                </a:solidFill>
                <a:latin typeface="Calibri"/>
              </a:rPr>
              <a:t>Losing a diversifier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91672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AGG has low volatility and low correlation with the stocks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Removing an asset shrinks the menu of possible portfolios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Ask: can a smaller menu ever offer lower risk at the same return?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636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000000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313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0" i="0">
                <a:solidFill>
                  <a:srgbClr val="000000"/>
                </a:solidFill>
                <a:latin typeface="Calibri"/>
              </a:rPr>
              <a:t>Row 143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595959"/>
                </a:solidFill>
                <a:latin typeface="Calibri"/>
              </a:rPr>
              <a:t>MCQ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00000"/>
                </a:solidFill>
                <a:latin typeface="Calibri"/>
              </a:rPr>
              <a:t>The steepest line from rf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91672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A line from rf to any portfolio has slope = its Sharpe ratio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Rotate the line upward until it just touches the frontier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That touching point gives the steepest line you can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636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000000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313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0" i="0">
                <a:solidFill>
                  <a:srgbClr val="000000"/>
                </a:solidFill>
                <a:latin typeface="Calibri"/>
              </a:rPr>
              <a:t>Row 180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595959"/>
                </a:solidFill>
                <a:latin typeface="Calibri"/>
              </a:rPr>
              <a:t>T/F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00000"/>
                </a:solidFill>
                <a:latin typeface="Calibri"/>
              </a:rPr>
              <a:t>Reading a zero weight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91672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At the optimum, Solver has already tried adding more of each asset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It keeps a weight at 0 only if adding some would not help the objective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Here the objective is the Sharpe ratio, with no shorting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636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000000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313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0" i="0">
                <a:solidFill>
                  <a:srgbClr val="000000"/>
                </a:solidFill>
                <a:latin typeface="Calibri"/>
              </a:rPr>
              <a:t>Row 187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595959"/>
                </a:solidFill>
                <a:latin typeface="Calibri"/>
              </a:rPr>
              <a:t>MCQ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00000"/>
                </a:solidFill>
                <a:latin typeface="Calibri"/>
              </a:rPr>
              <a:t>Same return, different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91672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Return depends only on the weighted average of the means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Risk also depends on how the assets move together (Σ)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Compare σp in Step 6 (B50) and Step 7 (B63) at the same return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636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000000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313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0" i="0">
                <a:solidFill>
                  <a:srgbClr val="000000"/>
                </a:solidFill>
                <a:latin typeface="Calibri"/>
              </a:rPr>
              <a:t>Row 190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595959"/>
                </a:solidFill>
                <a:latin typeface="Calibri"/>
              </a:rPr>
              <a:t>T/F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00000"/>
                </a:solidFill>
                <a:latin typeface="Calibri"/>
              </a:rPr>
              <a:t>Lowest risk ≠ best reward per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91672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The minimum-variance portfolio minimizes σp and ignores return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Sharpe = (E[rp] − rf) / σp: excess return per unit of risk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Check: Step 8's return (1.10%) versus rf (3%)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636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000000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313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0" i="0">
                <a:solidFill>
                  <a:srgbClr val="000000"/>
                </a:solidFill>
                <a:latin typeface="Calibri"/>
              </a:rPr>
              <a:t>Row 197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595959"/>
                </a:solidFill>
                <a:latin typeface="Calibri"/>
              </a:rPr>
              <a:t>T/F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00000"/>
                </a:solidFill>
                <a:latin typeface="Calibri"/>
              </a:rPr>
              <a:t>What a negative weight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91672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Weights are shares of your own money and sum to 100%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Negative weight: borrow the asset, sell it, and use the cash to buy others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$100 → short $119 VNQ and $110 AGG, buy $329 of AAPL, WMT and JPM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636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000000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313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0" i="0">
                <a:solidFill>
                  <a:srgbClr val="000000"/>
                </a:solidFill>
                <a:latin typeface="Calibri"/>
              </a:rPr>
              <a:t>Row 200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595959"/>
                </a:solidFill>
                <a:latin typeface="Calibri"/>
              </a:rPr>
              <a:t>MCQ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00000"/>
                </a:solidFill>
                <a:latin typeface="Calibri"/>
              </a:rPr>
              <a:t>A is the price of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91672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U = E(rp) − (A/2)σp²: A sets the penalty on variance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Higher A makes each unit of variance cost more utility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Solver gives up some return to cut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636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000000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313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0" i="0">
                <a:solidFill>
                  <a:srgbClr val="000000"/>
                </a:solidFill>
                <a:latin typeface="Calibri"/>
              </a:rPr>
              <a:t>Row 203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595959"/>
                </a:solidFill>
                <a:latin typeface="Calibri"/>
              </a:rPr>
              <a:t>T/F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00000"/>
                </a:solidFill>
                <a:latin typeface="Calibri"/>
              </a:rPr>
              <a:t>The bottom half of the curve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91672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Below G, the minimum-variance curve bends back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Draw a vertical line: one σp, two possible returns</a:t>
            </a:r>
          </a:p>
          <a:p>
            <a:pPr marL="411480" indent="-411480">
              <a:spcAft>
                <a:spcPts val="2400"/>
              </a:spcAft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That is why the chart plots only the upper branch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636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000000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313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0" i="0">
                <a:solidFill>
                  <a:srgbClr val="000000"/>
                </a:solidFill>
                <a:latin typeface="Calibri"/>
              </a:rPr>
              <a:t>Row 210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