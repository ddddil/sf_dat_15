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Does Allowing Short Selling Worsen the Best Portfolio?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True — the best achievable tradeoff cannot get worse.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Allowing negative weights expands the feasible set of portfolios.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Every no-shorting portfolio remains available: permission to short is not an obligation.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best tradeoff therefore improves or stays unchanged, holding other assumptions and costs fixed.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More choices cannot worsen the best available choice.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Are Short-Selling Losses Limited?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False — potential losses are theoretically unlimited.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Short sellers must buy back the borrowed shares to close their positions.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Short at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$50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repurchase at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$100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: lose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$50 per share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excluding costs and dividends owed to the lender.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Because a stock price has no fixed ceiling, the potential loss has no fixed ceiling.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A price floor limits the short seller’s gain—not the loss.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Are Historical Optimal Weights Guaranteed to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False — optimization is conditional on its inputs.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Historical returns, variances, and correlations are estimates of future conditions.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Estimation error and changing relationships can make yesterday’s optimal weights unattractive tomorrow.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A mathematically correct optimization does not guarantee future investment performance.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Optimal for estimated inputs is not guaranteed optimal for the future.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Is the Utility-Maximizing Portfolio Efficient?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True — on the frontier with shorting allowed.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With positive risk aversion, utility rewards expected return and penalizes variance.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A portfolio offering higher return with no more risk—or lower risk with no less return—would have higher utility.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Therefore, a global utility maximum cannot be dominated within the same feasible set (Step 11: σ</a:t>
            </a:r>
            <a:r>
              <a:rPr sz="2000" b="0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in B105 = B120).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Important: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Step 10 uses the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shorting-allowed frontier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not the no-shorting frontier plotted in Step 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A133; A93:B106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Why Is Equal Weighting Inside the Frontier?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A — equal weighting ignores the covariance structure.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Equal weights do not adjust to differences in expected returns, variances, or covariances.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In this example, optimized weights achieve the same expected return with lower risk.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Equal weighting can be efficient in special cases; identical assets are not a necessary condition.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Equal allocations do not automatically produce efficient diversification.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A136:A140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Happens If AGG Is Removed?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B — opportunities most likely worsen.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Removing AGG is equivalent to imposing the additional constraint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w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AGG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 = 0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This shrinks the feasible set, so the best attainable opportunities cannot improve.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Losing a low-variance diversifier may particularly weaken low-risk portfolios; the effect also depends on covariances.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The frontier may worsen or remain unchanged at some points—not necessarily shift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A143:A147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Is the Tangency Portfolio?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C — the maximum Sharpe ratio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line from the risk-free rate to a portfolio has slope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(E[R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] − R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f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) / σ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That slope is the portfolio’s Sharpe ratio: expected excess return per unit of volatility.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steepest attainable line touches the frontier at the maximum Sharpe portfolio.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Tangency maximizes excess return per unit of risk—not return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A180:A184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Does VNQ’s Zero Weight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True — under the estimated inputs and no-shorting constraint.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At the global maximum, allocating positively to VNQ cannot produce a higher Sharpe ratio.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Zero weight reflects VNQ’s contribution relative to the available alternatives.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It does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not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mean VNQ is always unattractive; different inputs or constraints can change its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A zero allocation is model-specific, not a universal judgment about an asset.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A187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Does Holding Expected Return Constant Demonstrate?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B — the same expected return can be achieved with lower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Step 7 fixes expected return at the equal-weighted portfolio’s level (13.77%).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Solver changes the weights to minimize portfolio variance: σ</a:t>
            </a:r>
            <a:r>
              <a:rPr sz="2000" b="0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falls from 13.56% to 11.40%.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resulting risk reduction isolates the benefit of better portfolio construction—not accepting a lower return.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Better diversification can reduce risk without reducing expected return.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A190:A194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Does Minimum Variance Mean Maximum Sharpe?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False — these are different objectives.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global minimum-variance portfolio minimizes volatility across feasible portfolios.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maximum Sharpe portfolio maximizes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expected excess return divided by volatility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A lower-volatility portfolio can have a lower Sharpe ratio if its excess return is too small (Step 8: E[R</a:t>
            </a:r>
            <a:r>
              <a:rPr sz="2000" b="0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] = 1.10% &lt; R</a:t>
            </a:r>
            <a:r>
              <a:rPr sz="2000" b="0" i="0" baseline="-25000">
                <a:solidFill>
                  <a:srgbClr val="000000"/>
                </a:solidFill>
                <a:latin typeface="Calibri"/>
              </a:rPr>
              <a:t>f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= 3%, Sharpe ≈ −0.30; Step 9: Sharpe ≈ 1.15).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Lowest risk does not necessarily mean best risk-adjusted return.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A197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Does a −119% VNQ Weight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True — the short position equals approximately 119% of net portfolio value.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With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$100 of net portfolio value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a −119% weight represents approximately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$119 of VNQ sold short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In the model, short-sale proceeds help finance long positions greater than net capital.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Weights can sum to 100% even when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gross exposure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the sum of absolute weights, exceeds 100% (Step 10: ≈ 557%).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A fully invested portfolio can still be highly leveraged.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A200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What Happens When Risk Aversion Rises?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B — optimized portfolio variance generally falls.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worksheet maximizes 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U = E[R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] − (A/2)σ</a:t>
            </a:r>
            <a:r>
              <a:rPr sz="2000" b="1" i="0" baseline="-25000">
                <a:solidFill>
                  <a:srgbClr val="000000"/>
                </a:solidFill>
                <a:latin typeface="Calibri"/>
              </a:rPr>
              <a:t>p</a:t>
            </a:r>
            <a:r>
              <a:rPr sz="2000" b="1" i="0">
                <a:solidFill>
                  <a:srgbClr val="000000"/>
                </a:solidFill>
                <a:latin typeface="Calibri"/>
              </a:rPr>
              <a:t>²/100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, using percentage-point returns.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Raising A from 4 to 8 doubles the penalty on any given variance.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With unchanged inputs and constraints, globally optimized variance cannot increase; it may remain unchanged.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Greater risk aversion favors lower portfolio risk—not necessarily less of every volatile asset.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A203:A207; A94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595959"/>
                </a:solidFill>
                <a:latin typeface="Calibri"/>
              </a:rPr>
              <a:t>Question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Why Is the Lower Frontier Branch Inefficient?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916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F3A5F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1F3A5F"/>
                </a:solidFill>
                <a:latin typeface="Calibri"/>
              </a:rPr>
              <a:t>True — lower-branch portfolios are dominated.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“Minimum variance for a specified return” does not automatically mean mean–variance efficient.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On the standard two-branch frontier, an upper-branch portfolio offers higher expected return at the same volatility.</a:t>
            </a:r>
          </a:p>
          <a:p>
            <a:pPr marL="274320" indent="-274320">
              <a:spcAft>
                <a:spcPts val="1400"/>
              </a:spcAft>
              <a:buFont typeface="Arial"/>
              <a:buChar char="•"/>
            </a:pPr>
            <a:r>
              <a:rPr sz="2000" b="0" i="0">
                <a:solidFill>
                  <a:srgbClr val="000000"/>
                </a:solidFill>
                <a:latin typeface="Calibri"/>
              </a:rPr>
              <a:t>The global minimum-variance portfolio also dominates lower-branch portfolios: it has higher return and lower risk.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983480"/>
            <a:ext cx="11091672" cy="914400"/>
          </a:xfrm>
          <a:prstGeom prst="rect">
            <a:avLst/>
          </a:prstGeom>
          <a:solidFill>
            <a:srgbClr val="E9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2000" b="1" i="0">
                <a:solidFill>
                  <a:srgbClr val="1F3A5F"/>
                </a:solidFill>
                <a:latin typeface="Calibri"/>
              </a:rPr>
              <a:t>Takeaway: 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Only the branch starting at the global minimum-variance portfolio and running upward is efficient.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95959"/>
                </a:solidFill>
                <a:latin typeface="Calibri"/>
              </a:rPr>
              <a:t>Sheet: Sec 3A - 5-Stock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6263640"/>
            <a:ext cx="4599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595959"/>
                </a:solidFill>
                <a:latin typeface="Calibri"/>
              </a:rPr>
              <a:t>Cells A210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