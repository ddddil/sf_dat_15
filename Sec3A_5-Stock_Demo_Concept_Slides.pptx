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000000"/>
                </a:solidFill>
                <a:latin typeface="Calibri"/>
              </a:rPr>
              <a:t>Question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Calibri"/>
              </a:rPr>
              <a:t>Portfolio Constraints and the Feasible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167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The no-short-sale constraint (w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i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 ≥ 0) defines a subset of the portfolios available when negative weights are permitted.</a:t>
            </a:r>
          </a:p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Every portfolio feasible under the constraint remains feasible without it: permission to short is not an obligation to short.</a:t>
            </a:r>
          </a:p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Optimizing over a larger set yields a weakly better optimum (holding inputs and costs fixed); the gain is strict only if the constraint binds.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937760"/>
            <a:ext cx="11091672" cy="1097280"/>
          </a:xfrm>
          <a:prstGeom prst="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000000"/>
                </a:solidFill>
                <a:latin typeface="Calibri"/>
              </a:rPr>
              <a:t>Key concept: 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Relaxing a constraint can never worsen the optimal value of an objective.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000000"/>
                </a:solidFill>
                <a:latin typeface="Calibri"/>
              </a:rPr>
              <a:t>Sheet: Sec 3A - 5-Stock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6217920"/>
            <a:ext cx="4599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0" i="0">
                <a:solidFill>
                  <a:srgbClr val="000000"/>
                </a:solidFill>
                <a:latin typeface="Calibri"/>
              </a:rPr>
              <a:t>Cell A124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000000"/>
                </a:solidFill>
                <a:latin typeface="Calibri"/>
              </a:rPr>
              <a:t>Question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Calibri"/>
              </a:rPr>
              <a:t>Short Sales: Payoff Asymmetry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167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A short seller borrows shares, sells at P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0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, and later repurchases at P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1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 to cover: profit = P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0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 − P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1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, less dividends owed and borrowing costs.</a:t>
            </a:r>
          </a:p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A long position’s loss is bounded because P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1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 ≥ 0. For a short position, the gain is capped at P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0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; consider what bounds, if anything, the loss P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1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 − P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0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Margin calls after a price rise can force the short seller to cover at the higher price (a short squeeze), realizing the loss.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937760"/>
            <a:ext cx="11091672" cy="1097280"/>
          </a:xfrm>
          <a:prstGeom prst="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000000"/>
                </a:solidFill>
                <a:latin typeface="Calibri"/>
              </a:rPr>
              <a:t>Key concept: 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A price has a floor of zero but no fixed ceiling; this asymmetry determines which side of each position is bounded.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000000"/>
                </a:solidFill>
                <a:latin typeface="Calibri"/>
              </a:rPr>
              <a:t>Sheet: Sec 3A - 5-Stock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6217920"/>
            <a:ext cx="4599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0" i="0">
                <a:solidFill>
                  <a:srgbClr val="000000"/>
                </a:solidFill>
                <a:latin typeface="Calibri"/>
              </a:rPr>
              <a:t>Cell A127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000000"/>
                </a:solidFill>
                <a:latin typeface="Calibri"/>
              </a:rPr>
              <a:t>Question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Calibri"/>
              </a:rPr>
              <a:t>Estimation Risk in Mean–Variance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167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Optimal weights solve the problem for the inputs supplied: sample means and covariances from 60 monthly returns, not the true parameters.</a:t>
            </a:r>
          </a:p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Means are estimated imprecisely: SE(r̄) = s/√T. For AAPL, SE ≈ 11% per year against a sample mean of about 17% per year.</a:t>
            </a:r>
          </a:p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Optimizers magnify estimation error, and return distributions shift over time, so in-sample results may not persist out of sample.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937760"/>
            <a:ext cx="11091672" cy="1097280"/>
          </a:xfrm>
          <a:prstGeom prst="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000000"/>
                </a:solidFill>
                <a:latin typeface="Calibri"/>
              </a:rPr>
              <a:t>Key concept: 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Ex ante optimality (given estimated inputs) differs from ex post performance (given realized returns).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000000"/>
                </a:solidFill>
                <a:latin typeface="Calibri"/>
              </a:rPr>
              <a:t>Sheet: Sec 3A - 5-Stock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6217920"/>
            <a:ext cx="4599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0" i="0">
                <a:solidFill>
                  <a:srgbClr val="000000"/>
                </a:solidFill>
                <a:latin typeface="Calibri"/>
              </a:rPr>
              <a:t>Cell A130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000000"/>
                </a:solidFill>
                <a:latin typeface="Calibri"/>
              </a:rPr>
              <a:t>Question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Calibri"/>
              </a:rPr>
              <a:t>Utility Maximization and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167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With A &gt; 0, U = E(r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) − ½Aσ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² increases with expected return and decreases with variance.</a:t>
            </a:r>
          </a:p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A dominating portfolio (higher E(r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) at no greater σ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, or lower σ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 at no lower E(r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)) would deliver strictly higher utility.</a:t>
            </a:r>
          </a:p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Step 11 tests this by minimizing σ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 at Step 10’s E(r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) and comparing B120 with B105. Both steps permit short sales; the Step 12 chart does 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937760"/>
            <a:ext cx="11091672" cy="1097280"/>
          </a:xfrm>
          <a:prstGeom prst="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000000"/>
                </a:solidFill>
                <a:latin typeface="Calibri"/>
              </a:rPr>
              <a:t>Key concept: 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Efficiency is defined relative to a feasible set: compare a portfolio only with the frontier built under the same constraints.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000000"/>
                </a:solidFill>
                <a:latin typeface="Calibri"/>
              </a:rPr>
              <a:t>Sheet: Sec 3A - 5-Stock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6217920"/>
            <a:ext cx="4599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0" i="0">
                <a:solidFill>
                  <a:srgbClr val="000000"/>
                </a:solidFill>
                <a:latin typeface="Calibri"/>
              </a:rPr>
              <a:t>Cell A133; A93:B106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000000"/>
                </a:solidFill>
                <a:latin typeface="Calibri"/>
              </a:rPr>
              <a:t>Question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Calibri"/>
              </a:rPr>
              <a:t>Naive vs. Mean–Variance Diversification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167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Portfolio variance, σ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² = wᵀΣw, depends on every variance and covariance; 1/N weights are set without reference to μ or Σ.</a:t>
            </a:r>
          </a:p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Assets with high variance or high covariance with the rest of the portfolio receive the same 20% as effective diversifiers such as AGG.</a:t>
            </a:r>
          </a:p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Identical means, variances, and covariances are one sufficient condition for 1/N to be efficient; distinguish sufficient from necessary conditions.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937760"/>
            <a:ext cx="11091672" cy="1097280"/>
          </a:xfrm>
          <a:prstGeom prst="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000000"/>
                </a:solidFill>
                <a:latin typeface="Calibri"/>
              </a:rPr>
              <a:t>Key concept: 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Diversification benefits depend on how assets covary, not on spreading dollars equally across assets.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000000"/>
                </a:solidFill>
                <a:latin typeface="Calibri"/>
              </a:rPr>
              <a:t>Sheet: Sec 3A - 5-Stock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6217920"/>
            <a:ext cx="4599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0" i="0">
                <a:solidFill>
                  <a:srgbClr val="000000"/>
                </a:solidFill>
                <a:latin typeface="Calibri"/>
              </a:rPr>
              <a:t>Cell A136:A140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000000"/>
                </a:solidFill>
                <a:latin typeface="Calibri"/>
              </a:rPr>
              <a:t>Question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Calibri"/>
              </a:rPr>
              <a:t>Removing an Asset from the Opportunity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167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Excluding AGG is equivalent to adding the constraint w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AGG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 = 0, which shrinks the feasible set.</a:t>
            </a:r>
          </a:p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By the logic of Question 1, the minimum σ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 at each target return cannot fall; it rises wherever AGG has positive weight at the optimum.</a:t>
            </a:r>
          </a:p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AGG’s low volatility (σ ≈ 6.4%) and low covariances with the stocks matter most at the low-risk end: it is 95% of the Step 8 portfolio.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937760"/>
            <a:ext cx="11091672" cy="1097280"/>
          </a:xfrm>
          <a:prstGeom prst="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000000"/>
                </a:solidFill>
                <a:latin typeface="Calibri"/>
              </a:rPr>
              <a:t>Key concept: 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An asset’s value to a portfolio depends on its variance and covariances, not only on its stand-alone expected return.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000000"/>
                </a:solidFill>
                <a:latin typeface="Calibri"/>
              </a:rPr>
              <a:t>Sheet: Sec 3A - 5-Stock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6217920"/>
            <a:ext cx="4599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0" i="0">
                <a:solidFill>
                  <a:srgbClr val="000000"/>
                </a:solidFill>
                <a:latin typeface="Calibri"/>
              </a:rPr>
              <a:t>Cell A143:A147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000000"/>
                </a:solidFill>
                <a:latin typeface="Calibri"/>
              </a:rPr>
              <a:t>Question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Calibri"/>
              </a:rPr>
              <a:t>The Capital Allocation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167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Combining a risky portfolio P with T-bills gives a straight line: E(r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C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) = r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f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 + [(E(r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) − r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f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) / σ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] × σ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C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The slope, (E(r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) − r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f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) / σ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, is P’s reward-to-volatility (Sharpe) ratio: expected excess return per unit of standard deviation.</a:t>
            </a:r>
          </a:p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Rotating the CAL upward until it just touches the efficient frontier identifies the steepest attainable CAL.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937760"/>
            <a:ext cx="11091672" cy="1097280"/>
          </a:xfrm>
          <a:prstGeom prst="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000000"/>
                </a:solidFill>
                <a:latin typeface="Calibri"/>
              </a:rPr>
              <a:t>Key concept: 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Choose the risky portfolio to maximize the CAL’s slope; the T-bill/risky split then sets the level of 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000000"/>
                </a:solidFill>
                <a:latin typeface="Calibri"/>
              </a:rPr>
              <a:t>Sheet: Sec 3A - 5-Stock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6217920"/>
            <a:ext cx="4599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0" i="0">
                <a:solidFill>
                  <a:srgbClr val="000000"/>
                </a:solidFill>
                <a:latin typeface="Calibri"/>
              </a:rPr>
              <a:t>Cell A180:A184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000000"/>
                </a:solidFill>
                <a:latin typeface="Calibri"/>
              </a:rPr>
              <a:t>Question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Calibri"/>
              </a:rPr>
              <a:t>Interpreting Zero Weights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167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Under w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i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 ≥ 0, a zero weight is typically a corner solution: the constraint binds, and the unconstrained optimum would be negative.</a:t>
            </a:r>
          </a:p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At the optimum, no feasible reallocation, including a small positive weight in VNQ, can raise the objective (here, the Sharpe ratio).</a:t>
            </a:r>
          </a:p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An asset’s marginal contribution depends on its excess return relative to its covariance with the portfolio, not its stand-alone Sharpe ratio.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937760"/>
            <a:ext cx="11091672" cy="1097280"/>
          </a:xfrm>
          <a:prstGeom prst="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000000"/>
                </a:solidFill>
                <a:latin typeface="Calibri"/>
              </a:rPr>
              <a:t>Key concept: 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Zero weights are conditional on the estimated inputs and the constraints; they are not a general verdict on the asset.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000000"/>
                </a:solidFill>
                <a:latin typeface="Calibri"/>
              </a:rPr>
              <a:t>Sheet: Sec 3A - 5-Stock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6217920"/>
            <a:ext cx="4599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0" i="0">
                <a:solidFill>
                  <a:srgbClr val="000000"/>
                </a:solidFill>
                <a:latin typeface="Calibri"/>
              </a:rPr>
              <a:t>Cell A187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000000"/>
                </a:solidFill>
                <a:latin typeface="Calibri"/>
              </a:rPr>
              <a:t>Question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Calibri"/>
              </a:rPr>
              <a:t>Holding Return Fixed to Isolate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167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Step 7 fixes E(r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) at the 1/N level (13.77%) and lets Solver choose weights to minimize σ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, with no short sales.</a:t>
            </a:r>
          </a:p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E(r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) is linear in the weights, but σ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 depends on covariances, so many weight vectors share one E(r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) with different σ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Compare σ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 for the 1/N portfolio (B50) with σ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 for the Step 7 portfolio (B63).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937760"/>
            <a:ext cx="11091672" cy="1097280"/>
          </a:xfrm>
          <a:prstGeom prst="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000000"/>
                </a:solidFill>
                <a:latin typeface="Calibri"/>
              </a:rPr>
              <a:t>Key concept: 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Holding one dimension (return) constant isolates the effect of portfolio construction on the other (risk).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000000"/>
                </a:solidFill>
                <a:latin typeface="Calibri"/>
              </a:rPr>
              <a:t>Sheet: Sec 3A - 5-Stock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6217920"/>
            <a:ext cx="4599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0" i="0">
                <a:solidFill>
                  <a:srgbClr val="000000"/>
                </a:solidFill>
                <a:latin typeface="Calibri"/>
              </a:rPr>
              <a:t>Cell A190:A194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000000"/>
                </a:solidFill>
                <a:latin typeface="Calibri"/>
              </a:rPr>
              <a:t>Question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Calibri"/>
              </a:rPr>
              <a:t>Minimum Variance vs. Reward-to-Volatility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167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The global minimum-variance portfolio minimizes σ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 and ignores expected return entirely.</a:t>
            </a:r>
          </a:p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The Sharpe ratio, S = (E(r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) − r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f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) / σ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, also depends on the numerator: a low σ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 cannot offset a small or negative excess return.</a:t>
            </a:r>
          </a:p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Workbook check: compare Step 8’s E(r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) (B74) with r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f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 = 3% (B80), then compare its Sharpe ratio with Step 9’s (B91).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937760"/>
            <a:ext cx="11091672" cy="1097280"/>
          </a:xfrm>
          <a:prstGeom prst="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000000"/>
                </a:solidFill>
                <a:latin typeface="Calibri"/>
              </a:rPr>
              <a:t>Key concept: 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Different objective functions generally select different portfolios on the frontier.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000000"/>
                </a:solidFill>
                <a:latin typeface="Calibri"/>
              </a:rPr>
              <a:t>Sheet: Sec 3A - 5-Stock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6217920"/>
            <a:ext cx="4599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0" i="0">
                <a:solidFill>
                  <a:srgbClr val="000000"/>
                </a:solidFill>
                <a:latin typeface="Calibri"/>
              </a:rPr>
              <a:t>Cell A197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000000"/>
                </a:solidFill>
                <a:latin typeface="Calibri"/>
              </a:rPr>
              <a:t>Question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Calibri"/>
              </a:rPr>
              <a:t>Negative Weights, Leverage, and Gross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167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Weights are fractions of net portfolio value (equity) and sum to 1; a negative weight denotes a short position.</a:t>
            </a:r>
          </a:p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Step 10, per $100 of equity: short $119 VNQ and $110 AGG; in the model, the $229 of proceeds plus $100 of equity fund $329 of long positions.</a:t>
            </a:r>
          </a:p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Net exposure is 100%, but gross exposure, Σ|w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i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|, is about 557%.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937760"/>
            <a:ext cx="11091672" cy="1097280"/>
          </a:xfrm>
          <a:prstGeom prst="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000000"/>
                </a:solidFill>
                <a:latin typeface="Calibri"/>
              </a:rPr>
              <a:t>Key concept: 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Weights summing to 100% say nothing about leverage; gross exposure measures it. Real-world margin rules restrict use of short proceeds.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000000"/>
                </a:solidFill>
                <a:latin typeface="Calibri"/>
              </a:rPr>
              <a:t>Sheet: Sec 3A - 5-Stock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6217920"/>
            <a:ext cx="4599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0" i="0">
                <a:solidFill>
                  <a:srgbClr val="000000"/>
                </a:solidFill>
                <a:latin typeface="Calibri"/>
              </a:rPr>
              <a:t>Cell A200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000000"/>
                </a:solidFill>
                <a:latin typeface="Calibri"/>
              </a:rPr>
              <a:t>Question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Calibri"/>
              </a:rPr>
              <a:t>Risk Aversion and the Optimal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167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The worksheet maximizes U = E(r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) − ½A·σ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²/100 (returns in percent); A is the coefficient of risk aversion.</a:t>
            </a:r>
          </a:p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Raising A doubles the utility cost of each unit of variance while leaving the reward for expected return unchanged.</a:t>
            </a:r>
          </a:p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Revealed preference: evaluate the A = 4 and A = 8 optima under both utility functions to see which way σ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² can move.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937760"/>
            <a:ext cx="11091672" cy="1097280"/>
          </a:xfrm>
          <a:prstGeom prst="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000000"/>
                </a:solidFill>
                <a:latin typeface="Calibri"/>
              </a:rPr>
              <a:t>Key concept: 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Risk aversion governs where an investor sits on the frontier; individual asset weights need not all move in the same direction.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000000"/>
                </a:solidFill>
                <a:latin typeface="Calibri"/>
              </a:rPr>
              <a:t>Sheet: Sec 3A - 5-Stock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6217920"/>
            <a:ext cx="4599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0" i="0">
                <a:solidFill>
                  <a:srgbClr val="000000"/>
                </a:solidFill>
                <a:latin typeface="Calibri"/>
              </a:rPr>
              <a:t>Cell A203:A207; A94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000000"/>
                </a:solidFill>
                <a:latin typeface="Calibri"/>
              </a:rPr>
              <a:t>Question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Calibri"/>
              </a:rPr>
              <a:t>The Minimum-Variance vs. Efficient Frontier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167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The minimum-variance frontier gives the lowest σ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 for each target E(r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); its two branches meet at the global minimum-variance portfolio G.</a:t>
            </a:r>
          </a:p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Each σ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p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 above σ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G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 corresponds to two frontier portfolios with the same risk but different expected returns.</a:t>
            </a:r>
          </a:p>
          <a:p>
            <a:pPr marL="274320" indent="-274320">
              <a:spcAft>
                <a:spcPts val="1200"/>
              </a:spcAft>
              <a:buFont typeface="Arial"/>
              <a:buChar char="•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Dominance: A dominates B if E(r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A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) ≥ E(r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B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) and σ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A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 ≤ σ</a:t>
            </a:r>
            <a:r>
              <a:rPr sz="2200" b="0" i="0" baseline="-25000">
                <a:solidFill>
                  <a:srgbClr val="000000"/>
                </a:solidFill>
                <a:latin typeface="Calibri"/>
              </a:rPr>
              <a:t>B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, with at least one strict inequality.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937760"/>
            <a:ext cx="11091672" cy="1097280"/>
          </a:xfrm>
          <a:prstGeom prst="rect">
            <a:avLst/>
          </a:prstGeom>
          <a:solidFill>
            <a:srgbClr val="E9EE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200" b="1" i="0">
                <a:solidFill>
                  <a:srgbClr val="000000"/>
                </a:solidFill>
                <a:latin typeface="Calibri"/>
              </a:rPr>
              <a:t>Key concept: </a:t>
            </a:r>
            <a:r>
              <a:rPr sz="2200" b="0" i="0">
                <a:solidFill>
                  <a:srgbClr val="000000"/>
                </a:solidFill>
                <a:latin typeface="Calibri"/>
              </a:rPr>
              <a:t>Minimum variance for a given return is necessary, but not sufficient, for efficiency.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000000"/>
                </a:solidFill>
                <a:latin typeface="Calibri"/>
              </a:rPr>
              <a:t>Sheet: Sec 3A - 5-Stock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6217920"/>
            <a:ext cx="4599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0" i="0">
                <a:solidFill>
                  <a:srgbClr val="000000"/>
                </a:solidFill>
                <a:latin typeface="Calibri"/>
              </a:rPr>
              <a:t>Cell A210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