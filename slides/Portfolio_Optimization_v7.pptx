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Efficient frontier</c:v>
                </c:pt>
              </c:strCache>
            </c:strRef>
          </c:tx>
          <c:spPr>
            <a:ln w="4445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Sheet1!$A$2:$A$121</c:f>
              <c:numCache>
                <c:formatCode>General</c:formatCode>
                <c:ptCount val="120"/>
                <c:pt idx="0">
                  <c:v>6.3579179719</c:v>
                </c:pt>
                <c:pt idx="1">
                  <c:v>6.3600190963</c:v>
                </c:pt>
                <c:pt idx="2">
                  <c:v>6.3663183157</c:v>
                </c:pt>
                <c:pt idx="3">
                  <c:v>6.3768031888</c:v>
                </c:pt>
                <c:pt idx="4">
                  <c:v>6.3914531165</c:v>
                </c:pt>
                <c:pt idx="5">
                  <c:v>6.4102395427</c:v>
                </c:pt>
                <c:pt idx="6">
                  <c:v>6.4331262284</c:v>
                </c:pt>
                <c:pt idx="7">
                  <c:v>6.4600565894</c:v>
                </c:pt>
                <c:pt idx="8">
                  <c:v>6.4901088508</c:v>
                </c:pt>
                <c:pt idx="9">
                  <c:v>6.5227146296</c:v>
                </c:pt>
                <c:pt idx="10">
                  <c:v>6.5578358373</c:v>
                </c:pt>
                <c:pt idx="11">
                  <c:v>6.5954322896</c:v>
                </c:pt>
                <c:pt idx="12">
                  <c:v>6.6354619124</c:v>
                </c:pt>
                <c:pt idx="13">
                  <c:v>6.6778809498</c:v>
                </c:pt>
                <c:pt idx="14">
                  <c:v>6.7226441715</c:v>
                </c:pt>
                <c:pt idx="15">
                  <c:v>6.7697050762</c:v>
                </c:pt>
                <c:pt idx="16">
                  <c:v>6.8190160925</c:v>
                </c:pt>
                <c:pt idx="17">
                  <c:v>6.8705287719</c:v>
                </c:pt>
                <c:pt idx="18">
                  <c:v>6.9241939768</c:v>
                </c:pt>
                <c:pt idx="19">
                  <c:v>6.9799620585</c:v>
                </c:pt>
                <c:pt idx="20">
                  <c:v>7.037783027</c:v>
                </c:pt>
                <c:pt idx="21">
                  <c:v>7.0976067105</c:v>
                </c:pt>
                <c:pt idx="22">
                  <c:v>7.1593829058</c:v>
                </c:pt>
                <c:pt idx="23">
                  <c:v>7.2230615147</c:v>
                </c:pt>
                <c:pt idx="24">
                  <c:v>7.2885926751</c:v>
                </c:pt>
                <c:pt idx="25">
                  <c:v>7.3559268767</c:v>
                </c:pt>
                <c:pt idx="26">
                  <c:v>7.4250150659</c:v>
                </c:pt>
                <c:pt idx="27">
                  <c:v>7.4958087443</c:v>
                </c:pt>
                <c:pt idx="28">
                  <c:v>7.5682600526</c:v>
                </c:pt>
                <c:pt idx="29">
                  <c:v>7.6423218461</c:v>
                </c:pt>
                <c:pt idx="30">
                  <c:v>7.7179477621</c:v>
                </c:pt>
                <c:pt idx="31">
                  <c:v>7.7950922771</c:v>
                </c:pt>
                <c:pt idx="32">
                  <c:v>7.8737107543</c:v>
                </c:pt>
                <c:pt idx="33">
                  <c:v>7.953759487</c:v>
                </c:pt>
                <c:pt idx="34">
                  <c:v>8.0351957272</c:v>
                </c:pt>
                <c:pt idx="35">
                  <c:v>8.1179777208</c:v>
                </c:pt>
                <c:pt idx="36">
                  <c:v>8.2020647188</c:v>
                </c:pt>
                <c:pt idx="37">
                  <c:v>8.2874169992</c:v>
                </c:pt>
                <c:pt idx="38">
                  <c:v>8.3739958725</c:v>
                </c:pt>
                <c:pt idx="39">
                  <c:v>8.4617636882</c:v>
                </c:pt>
                <c:pt idx="40">
                  <c:v>8.5506837404</c:v>
                </c:pt>
                <c:pt idx="41">
                  <c:v>8.6405927228</c:v>
                </c:pt>
                <c:pt idx="42">
                  <c:v>8.7313467612</c:v>
                </c:pt>
                <c:pt idx="43">
                  <c:v>8.8229197778</c:v>
                </c:pt>
                <c:pt idx="44">
                  <c:v>8.9152865364</c:v>
                </c:pt>
                <c:pt idx="45">
                  <c:v>9.0084226214</c:v>
                </c:pt>
                <c:pt idx="46">
                  <c:v>9.1023044179</c:v>
                </c:pt>
                <c:pt idx="47">
                  <c:v>9.1969090888</c:v>
                </c:pt>
                <c:pt idx="48">
                  <c:v>9.2922145542</c:v>
                </c:pt>
                <c:pt idx="49">
                  <c:v>9.388199473</c:v>
                </c:pt>
                <c:pt idx="50">
                  <c:v>9.484843217</c:v>
                </c:pt>
                <c:pt idx="51">
                  <c:v>9.5821258519</c:v>
                </c:pt>
                <c:pt idx="52">
                  <c:v>9.6800281151</c:v>
                </c:pt>
                <c:pt idx="53">
                  <c:v>9.7785313958</c:v>
                </c:pt>
                <c:pt idx="54">
                  <c:v>9.8776177135</c:v>
                </c:pt>
                <c:pt idx="55">
                  <c:v>9.9772696966</c:v>
                </c:pt>
                <c:pt idx="56">
                  <c:v>10.0774705668</c:v>
                </c:pt>
                <c:pt idx="57">
                  <c:v>10.1782041086</c:v>
                </c:pt>
                <c:pt idx="58">
                  <c:v>10.2794546661</c:v>
                </c:pt>
                <c:pt idx="59">
                  <c:v>10.3812071097</c:v>
                </c:pt>
                <c:pt idx="60">
                  <c:v>10.4834468269</c:v>
                </c:pt>
                <c:pt idx="61">
                  <c:v>10.5861596991</c:v>
                </c:pt>
                <c:pt idx="62">
                  <c:v>10.6893320862</c:v>
                </c:pt>
                <c:pt idx="63">
                  <c:v>10.7929508109</c:v>
                </c:pt>
                <c:pt idx="64">
                  <c:v>10.8970031402</c:v>
                </c:pt>
                <c:pt idx="65">
                  <c:v>11.0014767715</c:v>
                </c:pt>
                <c:pt idx="66">
                  <c:v>11.1063598156</c:v>
                </c:pt>
                <c:pt idx="67">
                  <c:v>11.2116407829</c:v>
                </c:pt>
                <c:pt idx="68">
                  <c:v>11.317308567</c:v>
                </c:pt>
                <c:pt idx="69">
                  <c:v>11.4233524347</c:v>
                </c:pt>
                <c:pt idx="70">
                  <c:v>11.5297620085</c:v>
                </c:pt>
                <c:pt idx="71">
                  <c:v>11.6365272557</c:v>
                </c:pt>
                <c:pt idx="72">
                  <c:v>11.7436384758</c:v>
                </c:pt>
                <c:pt idx="73">
                  <c:v>11.8510862885</c:v>
                </c:pt>
                <c:pt idx="74">
                  <c:v>11.9588616206</c:v>
                </c:pt>
                <c:pt idx="75">
                  <c:v>12.066955697</c:v>
                </c:pt>
                <c:pt idx="76">
                  <c:v>12.1753600282</c:v>
                </c:pt>
                <c:pt idx="77">
                  <c:v>12.284066399</c:v>
                </c:pt>
                <c:pt idx="78">
                  <c:v>12.393066863</c:v>
                </c:pt>
                <c:pt idx="79">
                  <c:v>12.5023537274</c:v>
                </c:pt>
                <c:pt idx="80">
                  <c:v>12.6119195473</c:v>
                </c:pt>
                <c:pt idx="81">
                  <c:v>12.7217571099</c:v>
                </c:pt>
                <c:pt idx="82">
                  <c:v>12.8318594498</c:v>
                </c:pt>
                <c:pt idx="83">
                  <c:v>12.9422197986</c:v>
                </c:pt>
                <c:pt idx="84">
                  <c:v>13.0528316156</c:v>
                </c:pt>
                <c:pt idx="85">
                  <c:v>13.16368856</c:v>
                </c:pt>
                <c:pt idx="86">
                  <c:v>13.274784493</c:v>
                </c:pt>
                <c:pt idx="87">
                  <c:v>13.3861134622</c:v>
                </c:pt>
                <c:pt idx="88">
                  <c:v>13.4976697026</c:v>
                </c:pt>
                <c:pt idx="89">
                  <c:v>13.6094476248</c:v>
                </c:pt>
                <c:pt idx="90">
                  <c:v>13.7214418126</c:v>
                </c:pt>
                <c:pt idx="91">
                  <c:v>13.8336470108</c:v>
                </c:pt>
                <c:pt idx="92">
                  <c:v>13.9460581286</c:v>
                </c:pt>
                <c:pt idx="93">
                  <c:v>14.058670226</c:v>
                </c:pt>
                <c:pt idx="94">
                  <c:v>14.1714785111</c:v>
                </c:pt>
                <c:pt idx="95">
                  <c:v>14.284478335</c:v>
                </c:pt>
                <c:pt idx="96">
                  <c:v>14.3976651922</c:v>
                </c:pt>
                <c:pt idx="97">
                  <c:v>14.5110347002</c:v>
                </c:pt>
                <c:pt idx="98">
                  <c:v>14.6245826146</c:v>
                </c:pt>
                <c:pt idx="99">
                  <c:v>14.7383048105</c:v>
                </c:pt>
                <c:pt idx="100">
                  <c:v>14.8521972882</c:v>
                </c:pt>
                <c:pt idx="101">
                  <c:v>14.966256154</c:v>
                </c:pt>
                <c:pt idx="102">
                  <c:v>15.0804776377</c:v>
                </c:pt>
                <c:pt idx="103">
                  <c:v>15.1948580709</c:v>
                </c:pt>
                <c:pt idx="104">
                  <c:v>15.3093938919</c:v>
                </c:pt>
                <c:pt idx="105">
                  <c:v>15.4240816327</c:v>
                </c:pt>
                <c:pt idx="106">
                  <c:v>15.538917936</c:v>
                </c:pt>
                <c:pt idx="107">
                  <c:v>15.6538995338</c:v>
                </c:pt>
                <c:pt idx="108">
                  <c:v>15.7690232393</c:v>
                </c:pt>
                <c:pt idx="109">
                  <c:v>15.8842859711</c:v>
                </c:pt>
                <c:pt idx="110">
                  <c:v>15.9996847208</c:v>
                </c:pt>
                <c:pt idx="111">
                  <c:v>16.1152165664</c:v>
                </c:pt>
                <c:pt idx="112">
                  <c:v>16.2387933077</c:v>
                </c:pt>
                <c:pt idx="113">
                  <c:v>16.3014935695</c:v>
                </c:pt>
                <c:pt idx="114">
                  <c:v>16.401995205</c:v>
                </c:pt>
                <c:pt idx="115">
                  <c:v>16.6069765231</c:v>
                </c:pt>
                <c:pt idx="116">
                  <c:v>16.8522127816</c:v>
                </c:pt>
                <c:pt idx="117">
                  <c:v>17.3982827473</c:v>
                </c:pt>
                <c:pt idx="118">
                  <c:v>19.9445063501</c:v>
                </c:pt>
                <c:pt idx="119">
                  <c:v>24.1330192996</c:v>
                </c:pt>
              </c:numCache>
            </c:numRef>
          </c:xVal>
          <c:yVal>
            <c:numRef>
              <c:f>Sheet1!$B$2:$B$121</c:f>
              <c:numCache>
                <c:formatCode>General</c:formatCode>
                <c:ptCount val="120"/>
                <c:pt idx="0">
                  <c:v>1.0966337166</c:v>
                </c:pt>
                <c:pt idx="1">
                  <c:v>1.2809934315</c:v>
                </c:pt>
                <c:pt idx="2">
                  <c:v>1.4653531464</c:v>
                </c:pt>
                <c:pt idx="3">
                  <c:v>1.6497128613</c:v>
                </c:pt>
                <c:pt idx="4">
                  <c:v>1.8340725762</c:v>
                </c:pt>
                <c:pt idx="5">
                  <c:v>2.0184322911</c:v>
                </c:pt>
                <c:pt idx="6">
                  <c:v>2.202792006</c:v>
                </c:pt>
                <c:pt idx="7">
                  <c:v>2.3871517209</c:v>
                </c:pt>
                <c:pt idx="8">
                  <c:v>2.5715114358</c:v>
                </c:pt>
                <c:pt idx="9">
                  <c:v>2.7558711506</c:v>
                </c:pt>
                <c:pt idx="10">
                  <c:v>2.9402308655</c:v>
                </c:pt>
                <c:pt idx="11">
                  <c:v>3.1245905804</c:v>
                </c:pt>
                <c:pt idx="12">
                  <c:v>3.3089502953</c:v>
                </c:pt>
                <c:pt idx="13">
                  <c:v>3.4933100102</c:v>
                </c:pt>
                <c:pt idx="14">
                  <c:v>3.6776697252</c:v>
                </c:pt>
                <c:pt idx="15">
                  <c:v>3.86202944</c:v>
                </c:pt>
                <c:pt idx="16">
                  <c:v>4.0463891549</c:v>
                </c:pt>
                <c:pt idx="17">
                  <c:v>4.2307488698</c:v>
                </c:pt>
                <c:pt idx="18">
                  <c:v>4.4151085847</c:v>
                </c:pt>
                <c:pt idx="19">
                  <c:v>4.5994682996</c:v>
                </c:pt>
                <c:pt idx="20">
                  <c:v>4.7838280145</c:v>
                </c:pt>
                <c:pt idx="21">
                  <c:v>4.9681877295</c:v>
                </c:pt>
                <c:pt idx="22">
                  <c:v>5.1525474446</c:v>
                </c:pt>
                <c:pt idx="23">
                  <c:v>5.3369071593</c:v>
                </c:pt>
                <c:pt idx="24">
                  <c:v>5.521266874</c:v>
                </c:pt>
                <c:pt idx="25">
                  <c:v>5.7056265891</c:v>
                </c:pt>
                <c:pt idx="26">
                  <c:v>5.8899863039</c:v>
                </c:pt>
                <c:pt idx="27">
                  <c:v>6.0743460187</c:v>
                </c:pt>
                <c:pt idx="28">
                  <c:v>6.2587057337</c:v>
                </c:pt>
                <c:pt idx="29">
                  <c:v>6.4430654486</c:v>
                </c:pt>
                <c:pt idx="30">
                  <c:v>6.6274251634</c:v>
                </c:pt>
                <c:pt idx="31">
                  <c:v>6.8117848783</c:v>
                </c:pt>
                <c:pt idx="32">
                  <c:v>6.9961445933</c:v>
                </c:pt>
                <c:pt idx="33">
                  <c:v>7.1805043082</c:v>
                </c:pt>
                <c:pt idx="34">
                  <c:v>7.364864023</c:v>
                </c:pt>
                <c:pt idx="35">
                  <c:v>7.5492237381</c:v>
                </c:pt>
                <c:pt idx="36">
                  <c:v>7.7335834529</c:v>
                </c:pt>
                <c:pt idx="37">
                  <c:v>7.9179431677</c:v>
                </c:pt>
                <c:pt idx="38">
                  <c:v>8.1023028826</c:v>
                </c:pt>
                <c:pt idx="39">
                  <c:v>8.2866625974</c:v>
                </c:pt>
                <c:pt idx="40">
                  <c:v>8.4710223126</c:v>
                </c:pt>
                <c:pt idx="41">
                  <c:v>8.6553820272</c:v>
                </c:pt>
                <c:pt idx="42">
                  <c:v>8.8397417421</c:v>
                </c:pt>
                <c:pt idx="43">
                  <c:v>9.0241014572</c:v>
                </c:pt>
                <c:pt idx="44">
                  <c:v>9.2084611719</c:v>
                </c:pt>
                <c:pt idx="45">
                  <c:v>9.3928208869</c:v>
                </c:pt>
                <c:pt idx="46">
                  <c:v>9.5771806017</c:v>
                </c:pt>
                <c:pt idx="47">
                  <c:v>9.7615403166</c:v>
                </c:pt>
                <c:pt idx="48">
                  <c:v>9.9459000315</c:v>
                </c:pt>
                <c:pt idx="49">
                  <c:v>10.1302597464</c:v>
                </c:pt>
                <c:pt idx="50">
                  <c:v>10.3146194613</c:v>
                </c:pt>
                <c:pt idx="51">
                  <c:v>10.4989791762</c:v>
                </c:pt>
                <c:pt idx="52">
                  <c:v>10.6833388911</c:v>
                </c:pt>
                <c:pt idx="53">
                  <c:v>10.8676986059</c:v>
                </c:pt>
                <c:pt idx="54">
                  <c:v>11.0520583208</c:v>
                </c:pt>
                <c:pt idx="55">
                  <c:v>11.2364180357</c:v>
                </c:pt>
                <c:pt idx="56">
                  <c:v>11.4207777506</c:v>
                </c:pt>
                <c:pt idx="57">
                  <c:v>11.6051374655</c:v>
                </c:pt>
                <c:pt idx="58">
                  <c:v>11.7894971804</c:v>
                </c:pt>
                <c:pt idx="59">
                  <c:v>11.9738568953</c:v>
                </c:pt>
                <c:pt idx="60">
                  <c:v>12.1582166102</c:v>
                </c:pt>
                <c:pt idx="61">
                  <c:v>12.3425763251</c:v>
                </c:pt>
                <c:pt idx="62">
                  <c:v>12.52693604</c:v>
                </c:pt>
                <c:pt idx="63">
                  <c:v>12.7112957548</c:v>
                </c:pt>
                <c:pt idx="64">
                  <c:v>12.8956554701</c:v>
                </c:pt>
                <c:pt idx="65">
                  <c:v>13.0800151847</c:v>
                </c:pt>
                <c:pt idx="66">
                  <c:v>13.2643748996</c:v>
                </c:pt>
                <c:pt idx="67">
                  <c:v>13.4487346145</c:v>
                </c:pt>
                <c:pt idx="68">
                  <c:v>13.6330943293</c:v>
                </c:pt>
                <c:pt idx="69">
                  <c:v>13.8174540442</c:v>
                </c:pt>
                <c:pt idx="70">
                  <c:v>14.0018137596</c:v>
                </c:pt>
                <c:pt idx="71">
                  <c:v>14.186173474</c:v>
                </c:pt>
                <c:pt idx="72">
                  <c:v>14.3705331889</c:v>
                </c:pt>
                <c:pt idx="73">
                  <c:v>14.5548929038</c:v>
                </c:pt>
                <c:pt idx="74">
                  <c:v>14.7392526187</c:v>
                </c:pt>
                <c:pt idx="75">
                  <c:v>14.9236123338</c:v>
                </c:pt>
                <c:pt idx="76">
                  <c:v>15.1079720485</c:v>
                </c:pt>
                <c:pt idx="77">
                  <c:v>15.2923317634</c:v>
                </c:pt>
                <c:pt idx="78">
                  <c:v>15.4766914789</c:v>
                </c:pt>
                <c:pt idx="79">
                  <c:v>15.6610511932</c:v>
                </c:pt>
                <c:pt idx="80">
                  <c:v>15.845410908</c:v>
                </c:pt>
                <c:pt idx="81">
                  <c:v>16.0297706167</c:v>
                </c:pt>
                <c:pt idx="82">
                  <c:v>16.2141303378</c:v>
                </c:pt>
                <c:pt idx="83">
                  <c:v>16.3984900528</c:v>
                </c:pt>
                <c:pt idx="84">
                  <c:v>16.5828497676</c:v>
                </c:pt>
                <c:pt idx="85">
                  <c:v>16.7672094825</c:v>
                </c:pt>
                <c:pt idx="86">
                  <c:v>16.951569198</c:v>
                </c:pt>
                <c:pt idx="87">
                  <c:v>17.1359289125</c:v>
                </c:pt>
                <c:pt idx="88">
                  <c:v>17.3202886272</c:v>
                </c:pt>
                <c:pt idx="89">
                  <c:v>17.5046483421</c:v>
                </c:pt>
                <c:pt idx="90">
                  <c:v>17.689008057</c:v>
                </c:pt>
                <c:pt idx="91">
                  <c:v>17.8733677722</c:v>
                </c:pt>
                <c:pt idx="92">
                  <c:v>18.0577274868</c:v>
                </c:pt>
                <c:pt idx="93">
                  <c:v>18.2420872017</c:v>
                </c:pt>
                <c:pt idx="94">
                  <c:v>18.4264469166</c:v>
                </c:pt>
                <c:pt idx="95">
                  <c:v>18.6108066316</c:v>
                </c:pt>
                <c:pt idx="96">
                  <c:v>18.7951663464</c:v>
                </c:pt>
                <c:pt idx="97">
                  <c:v>18.9795260612</c:v>
                </c:pt>
                <c:pt idx="98">
                  <c:v>19.1638857761</c:v>
                </c:pt>
                <c:pt idx="99">
                  <c:v>19.3482454913</c:v>
                </c:pt>
                <c:pt idx="100">
                  <c:v>19.5326052059</c:v>
                </c:pt>
                <c:pt idx="101">
                  <c:v>19.7169649208</c:v>
                </c:pt>
                <c:pt idx="102">
                  <c:v>19.9013246357</c:v>
                </c:pt>
                <c:pt idx="103">
                  <c:v>20.0856843506</c:v>
                </c:pt>
                <c:pt idx="104">
                  <c:v>20.2700440655</c:v>
                </c:pt>
                <c:pt idx="105">
                  <c:v>20.4544037804</c:v>
                </c:pt>
                <c:pt idx="106">
                  <c:v>20.6387634953</c:v>
                </c:pt>
                <c:pt idx="107">
                  <c:v>20.8231232102</c:v>
                </c:pt>
                <c:pt idx="108">
                  <c:v>21.007482925</c:v>
                </c:pt>
                <c:pt idx="109">
                  <c:v>21.19184264</c:v>
                </c:pt>
                <c:pt idx="110">
                  <c:v>21.3762023552</c:v>
                </c:pt>
                <c:pt idx="111">
                  <c:v>21.5605620697</c:v>
                </c:pt>
                <c:pt idx="112">
                  <c:v>21.7449217846</c:v>
                </c:pt>
                <c:pt idx="113">
                  <c:v>21.8215820324</c:v>
                </c:pt>
                <c:pt idx="114">
                  <c:v>21.9292814995</c:v>
                </c:pt>
                <c:pt idx="115">
                  <c:v>22.1136412146</c:v>
                </c:pt>
                <c:pt idx="116">
                  <c:v>22.2980009293</c:v>
                </c:pt>
                <c:pt idx="117">
                  <c:v>22.482360647</c:v>
                </c:pt>
                <c:pt idx="118">
                  <c:v>22.6667203598</c:v>
                </c:pt>
                <c:pt idx="119">
                  <c:v>22.851080074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Sheet1!$B$123</c:f>
              <c:strCache>
                <c:ptCount val="1"/>
                <c:pt idx="0">
                  <c:v>CAL</c:v>
                </c:pt>
              </c:strCache>
            </c:strRef>
          </c:tx>
          <c:spPr>
            <a:ln w="31750">
              <a:solidFill>
                <a:srgbClr val="000000"/>
              </a:solidFill>
              <a:prstDash val="dash"/>
            </a:ln>
          </c:spPr>
          <c:marker>
            <c:symbol val="none"/>
          </c:marker>
          <c:xVal>
            <c:numRef>
              <c:f>Sheet1!$A$124:$A$125</c:f>
              <c:numCache>
                <c:formatCode>General</c:formatCode>
                <c:ptCount val="2"/>
                <c:pt idx="0">
                  <c:v>0</c:v>
                </c:pt>
                <c:pt idx="1">
                  <c:v>26</c:v>
                </c:pt>
              </c:numCache>
            </c:numRef>
          </c:xVal>
          <c:yVal>
            <c:numRef>
              <c:f>Sheet1!$B$124:$B$125</c:f>
              <c:numCache>
                <c:formatCode>General</c:formatCode>
                <c:ptCount val="2"/>
                <c:pt idx="0">
                  <c:v>3</c:v>
                </c:pt>
                <c:pt idx="1">
                  <c:v>33.0194047101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Sheet1!$B$127</c:f>
              <c:strCache>
                <c:ptCount val="1"/>
                <c:pt idx="0">
                  <c:v>G (Step 8)</c:v>
                </c:pt>
              </c:strCache>
            </c:strRef>
          </c:tx>
          <c:spPr>
            <a:ln>
              <a:noFill/>
            </a:ln>
          </c:spPr>
          <c:marker>
            <c:symbol val="triangle"/>
            <c:size val="20"/>
            <c:spPr>
              <a:solidFill>
                <a:srgbClr val="000000"/>
              </a:solidFill>
              <a:ln w="25400">
                <a:solidFill>
                  <a:srgbClr val="000000"/>
                </a:solidFill>
              </a:ln>
            </c:spPr>
          </c:marker>
          <c:xVal>
            <c:numRef>
              <c:f>Sheet1!$A$128:$A$128</c:f>
              <c:numCache>
                <c:formatCode>General</c:formatCode>
                <c:ptCount val="1"/>
                <c:pt idx="0">
                  <c:v>6.3579179719</c:v>
                </c:pt>
              </c:numCache>
            </c:numRef>
          </c:xVal>
          <c:yVal>
            <c:numRef>
              <c:f>Sheet1!$B$128:$B$128</c:f>
              <c:numCache>
                <c:formatCode>General</c:formatCode>
                <c:ptCount val="1"/>
                <c:pt idx="0">
                  <c:v>1.0966337166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Sheet1!$B$130</c:f>
              <c:strCache>
                <c:ptCount val="1"/>
                <c:pt idx="0">
                  <c:v>Equal-weighted (Step 6)</c:v>
                </c:pt>
              </c:strCache>
            </c:strRef>
          </c:tx>
          <c:spPr>
            <a:ln>
              <a:noFill/>
            </a:ln>
          </c:spPr>
          <c:marker>
            <c:symbol val="square"/>
            <c:size val="16"/>
            <c:spPr>
              <a:solidFill>
                <a:srgbClr val="000000"/>
              </a:solidFill>
              <a:ln w="25400">
                <a:solidFill>
                  <a:srgbClr val="000000"/>
                </a:solidFill>
              </a:ln>
            </c:spPr>
          </c:marker>
          <c:xVal>
            <c:numRef>
              <c:f>Sheet1!$A$131:$A$131</c:f>
              <c:numCache>
                <c:formatCode>General</c:formatCode>
                <c:ptCount val="1"/>
                <c:pt idx="0">
                  <c:v>13.5594674369</c:v>
                </c:pt>
              </c:numCache>
            </c:numRef>
          </c:xVal>
          <c:yVal>
            <c:numRef>
              <c:f>Sheet1!$B$131:$B$131</c:f>
              <c:numCache>
                <c:formatCode>General</c:formatCode>
                <c:ptCount val="1"/>
                <c:pt idx="0">
                  <c:v>13.7697182274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Sheet1!$B$133</c:f>
              <c:strCache>
                <c:ptCount val="1"/>
                <c:pt idx="0">
                  <c:v>P, max Sharpe (Step 9)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20"/>
            <c:spPr>
              <a:solidFill>
                <a:srgbClr val="000000"/>
              </a:solidFill>
              <a:ln w="25400">
                <a:solidFill>
                  <a:srgbClr val="000000"/>
                </a:solidFill>
              </a:ln>
            </c:spPr>
          </c:marker>
          <c:xVal>
            <c:numRef>
              <c:f>Sheet1!$A$134:$A$134</c:f>
              <c:numCache>
                <c:formatCode>General</c:formatCode>
                <c:ptCount val="1"/>
                <c:pt idx="0">
                  <c:v>16.3014935695</c:v>
                </c:pt>
              </c:numCache>
            </c:numRef>
          </c:xVal>
          <c:yVal>
            <c:numRef>
              <c:f>Sheet1!$B$134:$B$134</c:f>
              <c:numCache>
                <c:formatCode>General</c:formatCode>
                <c:ptCount val="1"/>
                <c:pt idx="0">
                  <c:v>21.8215820324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6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2200" b="0">
                    <a:solidFill>
                      <a:srgbClr val="000000"/>
                    </a:solidFill>
                  </a:rPr>
                  <a:t>Portfolio standard deviation σp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2200">
                <a:solidFill>
                  <a:srgbClr val="000000"/>
                </a:solidFill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35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200" b="0">
                    <a:solidFill>
                      <a:srgbClr val="000000"/>
                    </a:solidFill>
                  </a:rPr>
                  <a:t>Expected return E(rp)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2200">
                <a:solidFill>
                  <a:srgbClr val="000000"/>
                </a:solidFill>
              </a:defRPr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2200"/>
          </a:pPr>
        </a:p>
      </c:txPr>
    </c:legend>
    <c:plotVisOnly val="1"/>
    <c:dispBlanksAs val="gap"/>
    <c:showDLblsOverMax val="0"/>
  </c:chart>
  <c:txPr>
    <a:bodyPr/>
    <a:lstStyle/>
    <a:p>
      <a:pPr>
        <a:defRPr sz="2200">
          <a:solidFill>
            <a:srgbClr val="00000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chart" Target="../charts/char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 4126 · Lecture 4 · Mean-variance analysis in Excel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441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FactSet monthly returns, Feb 2021 to Jan 2026 (60 months)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AAPL, WMT, JPM, VNQ, AGG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3% per year (Data!B68); risk aversion A = 4 (Data!B69)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solved four times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7864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2202104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stocks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and WMT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statistic by hand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90824" y="1280160"/>
            <a:ext cx="2567864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3704" y="1417320"/>
            <a:ext cx="2202104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bridge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answer as Sec 1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notation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33008" y="1280160"/>
            <a:ext cx="2567864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1417320"/>
            <a:ext cx="2202104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3A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assets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Solver, six ways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and CAL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075191" y="1280160"/>
            <a:ext cx="2567864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58071" y="1417320"/>
            <a:ext cx="2202104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3B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assets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removed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it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36515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never changes: which weights give the best trade-off between E(r</a:t>
            </a:r>
            <a:r>
              <a:rPr lang="en-US" sz="2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σ</a:t>
            </a:r>
            <a:r>
              <a:rPr lang="en-US" sz="2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workbook is organised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8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Data!B6:F65 holds 60 monthly returns for each of the five assets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in percent: 5.0 means 5%, not 0.05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assumptions live in one place: Data!B68 =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Data!B69 = A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1, 3A and 3B link to those two cells, so all update together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update instantly; Solver answers do not until you re-run Solver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the Step 12 frontier chart is precomputed and never moves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cells are the ones Solver changes or you complete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7764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in the workbook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mean and standard deviation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9 and row 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ij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Correlation, unit-free, between −1 and +1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CORREL, matrix R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Covariance, in %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COVARIANCE.S, matrix Σ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weights, sum to 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 Solver cells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mean and risk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SUMPRODUCT, SQRT(w′Σw)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− 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/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U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aversion and utility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Data!B69, Step 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we use, in one place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669280"/>
                <a:gridCol w="3227832"/>
              </a:tblGrid>
              <a:tr h="8412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assets (Sec 1)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assets (Sec 2, 3A, 3B)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return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= 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+ 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= w′μ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+ 2w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w′Σw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= ρ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R ∘ σσ′ = DRD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[E(r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− 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] /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 = 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− ½Aσ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38928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columns are the same algebra. The matrix form just scales to any n.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Stocks: The Scalar Approach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 Excel formula to the finance idea it implements.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sheet: Sec 1 - Scalar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Mean and standard deviation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E(r) ≈ r̄ = (1/T) Σ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≈ s = √[ Σ 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r̄)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(T − 1) 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65938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3253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 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=AVERAGE(Data!B6:B65)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1.42%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 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=STDEV.S(Data!B6:B65)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7.11%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C7:C8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formulas on Data!C6:C65 (WMT)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1.84%, 5.68%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109441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mean is our estimate of E(r): history stands in for the future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months is a sample, so STDEV.S divides by T − 1, not T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Annualising the two statistics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E(r)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12 × E(r)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√12 ×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65938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3253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 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=B7*12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17.08%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B10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=B8*SQRT(12)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24.64%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C9:C10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for WMT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22.10%, 19.68%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add up over 12 months, so the mean scales by 12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Variances add too (if months are independent), so σ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scales by 12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σ scale by √12, not by 12: risk grows slower than return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3a: Correlation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B14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=CORREL(Data!B6:B65,Data!C6:C65)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0.3575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rescales covariance onto a −1 to +1 scale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unit-free, so annualising does not change it: no ×12 here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and WMT move together only loosely, ρ = 0.36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works whenever ρ is below +1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vs correlation: the key identity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          definition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ρ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Bodie Eq. 7.6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R ∘ σσ′  (∘ = cell by cell)     matrix form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183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mixes two things: size (σ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direction (ρ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strips out size, leaving only direction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0.3575 × 24.64 × 19.68 = 173.40 %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Sec 1 B15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 B17 recomputes this and B18 confirms it against Σ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correlation means for a mix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+1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lockstep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cancels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weighted average of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218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1098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&lt; ρ &lt; +1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offset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moves cancel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below the weighted average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AAPL–WMT: ρ = 0.36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127797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−1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mirror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can cancel exactly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 is possible in theory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36515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lives in the middle column, which is where real assets are.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3b: Annualised covariance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Σ 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i,t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r̄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j,t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r̄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/ (T − 1)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B15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=COVARIANCE.S(Data!B6:B65,Data!C6:C65)*12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173.40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measures co-movement, in squared units (%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COVARIANCE.S matches STDEV.S: both divide by T − 1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×12, not ×√12: covariance is a variance-like quantity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or decimal? Pick one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workbook uses percent throughout: 5.0 means 5%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values are 100 times decimal values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 therefore change by a factor of 10,000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and σ are in %, variances and covariances are in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unaffected, because every input uses one scale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is affected: Step 10 needs a ÷100 to line the units up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cells Solver works with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204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898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B19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=Data!$B$68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</a:t>
            </a:r>
            <a:r>
              <a:rPr lang="en-US" sz="24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w1, AAPL weight (yellow, Solver changes)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B23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w2, WMT weight  (yellow, Solver changes)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B24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=B22    C24  =B23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same w, as a row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B25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=SUM(B22:B23)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must equal 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53460"/>
            <a:ext cx="11094415" cy="227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B22:B23 are the only cells Solver may change: the decision variables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B24:C24 lays the weights across a row so they line up with the means in B9:C9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row 25 is a formula that reacts to the weights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Solver setup and constraints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68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53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objective:   B29   (Max)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changing:     B22:B23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      B25 =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B22:B23 &gt;= 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0240"/>
            <a:ext cx="1109441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 = 1: fully invested, every dollar goes somewhere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B22:B23 ≥ 0: no shorting, no weight can go negative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can only search inside these rules; a different rule set is a different problem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4a: Portfolio expected return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      Bodie Eq. 7.2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B26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=SUMPRODUCT(B24:C24, B9:C9)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21.15%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weight by its own annual mean, then add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0.1896 × 17.08 + 0.8104 × 22.10 = 21.15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σ and no ρ appear: return is a plain weighted average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shorting,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must lie between the two asset means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4b: Portfolio variance, two assets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+ 2w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   Eq. 7.3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B27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=B24^2*B10^2 + C24^2*C10^2 + 2*B24*C24*B15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329.54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terms are each asset's own risk, scaled by weight squared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term is the only place the two assets interact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carries ρ through Cov = ρσ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lower ρ means lower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return, risk is not a weighted average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4c: Risk and the Sharpe ratio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√(σ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659380"/>
            <a:ext cx="11094415" cy="95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32532"/>
            <a:ext cx="10728655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=SQRT(B27)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18.15%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B29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=(B26-B19)/B28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302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Numerator: the reward for taking risk, the return above T-bills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Denominator: the total risk taken to earn it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excess return per unit of risk; Solver maximises B29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result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00200"/>
                <a:gridCol w="1600200"/>
                <a:gridCol w="1600200"/>
                <a:gridCol w="1600200"/>
                <a:gridCol w="16733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17.08%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24.64%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19.68%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Solver, B22:B29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18.96%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81.04%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21.15%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18.15%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456432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in a little AAPL lowers return slightly but lowers risk more, so the Sharpe ratio beats either stock alone.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1 - Scalar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extra Sharpe comes from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Weighted-average σ = 0.1896 × 24.64 + 0.8104 × 19.68 = 20.62%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σ</a:t>
            </a:r>
            <a:r>
              <a:rPr lang="en-US" sz="26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(B28) = 18.15%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20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weighted average, so it gives up nothing to mixing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falls 2.47 points below the weighted average, because ρ = 0.36 &lt; 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ρ were +1,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be exactly 20.62% and the mix would add nothing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free risk reduction is the whole reason to optimise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Bridge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same answer: notation that scales.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sheet: Sec 2 - Matrix Bridge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The 2×2 covariance matrix Σ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424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(%</a:t>
                      </a:r>
                      <a:r>
                        <a:rPr lang="en-US" sz="2400" b="1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B7:C8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607.26  =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173.40  = Cov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173.40  = Cov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387.41  =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r>
                        <a:rPr lang="en-US" sz="2400" baseline="3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80944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collects every variance (diagonal) and covariance (off-diagonal) in one place.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One formula fills the matrix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95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 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=COVARIANCE.S(Data!$B$6:$B$65,Data!B$6:B$65)*12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 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=COVARIANCE.S(Data!$C$6:$C$65,Data!B$6:B$65)*12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380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range is the row asset; $B$ locks it as you copy across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range is the column asset; B$ lets the column shift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diagonal both ranges are the same asset, so the cell is a variance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is symmetric: B8 = C7 = 173.40, because Cov(A,W) = Cov(W,A)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2a: One covariance by hand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ρ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204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898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B14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Scalar'!B14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ρ = 0.3575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B15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Scalar'!B10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σ AAPL = 24.64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B16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Scalar'!C10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σ WMT = 19.68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B17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=B14*B15*B16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173.40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=C7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173.40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0230"/>
            <a:ext cx="11094415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B17 builds the covariance from ρ and σ; B18 reads it straight from Σ. They must agree.</a:t>
            </a:r>
            <a:endParaRPr lang="en-US" sz="2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2b: TRANSPOSE, then the outer product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σσ′: entry (i, j) =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B23:C23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Scalar'!B10, C10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row [24.64 19.68]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B25:B26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=TRANSPOSE(B23:C23)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same σ as a column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B29:C30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=MMULT(TRANSPOSE(B23:C23),B23:C23)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3790"/>
            <a:ext cx="11094415" cy="227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MMULT of a 2×1 column by a 1×2 row gives a 2×2 grid, not one number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B29:C30 = [607.26 485.04; 485.04 387.41]: the diagonal is already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σσ′ carries the size of every pair, but knows nothing about direction</a:t>
            </a:r>
            <a:endParaRPr lang="en-US" sz="2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2b: Σ = R ∘ σσ′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(B33:C34)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matrix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 the diagonal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0.3575 off it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Unit-free: direction 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218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1098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σσ′  (B29:C30)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product of σ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(i, j) is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size only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127797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∘ σσ′  (B37:C38)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cell by cell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Cov(r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Σ in B7:C8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36515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times size gives co-movement: that is all a covariance is.</a:t>
            </a:r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*  and not MMULT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B37:C38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=B33:C34*B29:C30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058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* operator multiplies two same-sized blocks cell by cell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MMULT already built σσ′; * only rescales each entry by its ρ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MMULT here would add across rows and give the wrong matrix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DRD with D = diag(σ) is the same rescaling using true matrix products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3A compresses the chain into one cell: =R*MMULT(TRANSPOSE(σ),σ)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From weights to risk, w → Σw → w′Σw → σ</a:t>
            </a:r>
            <a:r>
              <a:rPr lang="en-US" sz="3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w′Σw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168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53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B45:B46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Scalar'!B22, B23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w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B48:B49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=MMULT(B7:C8, B45:B46)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Σw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B51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=MMULT(TRANSPOSE(B45:B46),B48:B49)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329.54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=SQRT(B51)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18.15%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17010"/>
            <a:ext cx="11094415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Σw is its own object, sitting visibly in two cells, before w′ collapses it to one number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MMULT is actually doing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52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(Σw)</a:t>
            </a:r>
            <a:r>
              <a:rPr lang="en-US" sz="26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607.26 × 0.1896 + 173.40 × 0.8104 = 255.67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(Σw)</a:t>
            </a:r>
            <a:r>
              <a:rPr lang="en-US" sz="26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173.40 × 0.1896 + 387.41 × 0.8104 = 346.83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w′Σw = 0.1896 × 255.67 + 0.8104 × 346.83 = 329.54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9085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(Σw)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asset i's covariance with the whole portfolio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 w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Cov(r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each asset's contribution to risk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it and you get the Step 4b formula, term for term (Eq. 7.16)</a:t>
            </a:r>
            <a:endParaRPr lang="en-US" sz="2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cross-check that proves the point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95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=SQRT(B51)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18.15%   matrix answer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B53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='Sec 1 - Scalar'!B28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18.15%   scalar answer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3800"/>
            <a:ext cx="1109441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agree exactly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notation is not a new model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same algebra, packaged so that it scales to 5, 50 or 500 assets</a:t>
            </a:r>
            <a:endParaRPr lang="en-US" sz="2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w′Σw is doing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each asset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changes these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218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1098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Σ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relationship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 variance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Off-diagonal: covariance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127797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variance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and cross terms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SQRT gives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kinds of cell in Σ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asset's variance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 B7 and C8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218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1098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of a pair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ρ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 C7 and B8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127797" y="1280160"/>
            <a:ext cx="3515258" cy="348203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10677" y="1417320"/>
            <a:ext cx="3149498" cy="3207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risk always adds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can offset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5×5: 5 diagonal, 20 off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36515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 grows, the off-diagonal cells dominate: portfolio risk is mostly about co-movement.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Sec 2 MCQ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off-diagonal term in a 2×2 covariance matrix represent?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0820095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variance of asset 1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covariance between the two assets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correlation between the two assets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product of the two expected returns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99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2 - Matrix Bridge!B62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2 - Matrix Bridge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the off-diagonal term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is filled by =COVARIANCE.S(column i, column j)*12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diagonal i = j, so the cell is Cov(r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diagonal i ≠ j: two different assets, measured in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that number divided by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lives in R, not Σ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 never enter Σ at any point</a:t>
            </a:r>
            <a:endParaRPr lang="en-US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Assets with Solver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matrix formulas start to earn their keep.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sheet: Sec 3A - 5-Stock Demo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1–2: The same statistics, five columns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68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53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B7:F7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=AVERAGE(Data!B6:B65) ... (Data!F6:F65)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B8:F8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=STDEV.S(Data!B6:B65) ...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B9:F9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=B7*12 ...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annual mean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B10:F10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=B8*SQRT(12) ...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annual 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0240"/>
            <a:ext cx="11094415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per asset; the finance is exactly Section 1's</a:t>
            </a:r>
            <a:endParaRPr lang="en-US" sz="2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assets at a glance</a:t>
            </a:r>
            <a:endParaRPr lang="en-US" sz="3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row 9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row 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alone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17.08%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24.64%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19.68%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22.85%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24.13%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VNQ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6.81%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18.92%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6.43%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−0.47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407408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earns less than r</a:t>
            </a:r>
            <a:r>
              <a:rPr lang="en-US" sz="2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yet its σ is a third of any equity's. Keep an eye on it.</a:t>
            </a:r>
            <a:endParaRPr lang="en-US" sz="2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The 5×5 covariance matrix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B15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=COVARIANCE.S(Data!$B$6:$B$65, Data!B$6:B$65)*12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058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across and down through F19: one formula, 25 cells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variances on the diagonal, 20 covariances off it (10 distinct)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B15:F19 is the risk engine for every optimisation that follows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top-left 2×2 block is exactly Sec 2's Σ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5×5 correlation matrix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B24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=CORREL(Data!$B$6:$B$65, Data!B$6:B$65)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058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anchoring as Σ: $B$ locks the row asset, B$ shifts across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is exactly 1, since ρ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(σ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Unit-free, so it compares a bond fund and a stock fairly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vs AAPL, WMT, JPM, VNQ: 0.51, 0.18, 0.36, 0.69, not uniformly low</a:t>
            </a:r>
            <a:endParaRPr lang="en-US" sz="2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Rebuild Σ from 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R ∘ σσ′ = DRD,   D = diag(σ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…,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B33:F37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=B24:F28*MMULT(TRANSPOSE(B10:F10),B10:F10)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MMULT(TRANSPOSE(σ), σ) is the 5×5 outer product, entry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* multiplies R into it cell by cell, giving ρ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B33:F37 with B15:F19: identical in all 25 cells</a:t>
            </a:r>
            <a:endParaRPr lang="en-US" sz="2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Σ twice?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and 5 are two routes to one matrix; the agreement is the check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goes straight to co-movement in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stops there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separates what a covariance mixes: size σ and direction ρ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you see AGG helps through its small σ, not through low ρ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scales: one formula fills 4, 25 or 2,500 cells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The equal-weighted benchmark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w′μ       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w′Σw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168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53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B43:B47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=1/5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20% each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=SUMPRODUCT(B43:B47, TRANSPOSE(B9:F9))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13.77%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B49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=MMULT(TRANSPOSE(B43:B47),MMULT(B15:F19,B43:B47))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B50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=SQRT(B49)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13.56%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1701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in B48 turns the row of means into a column to match w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MMULT is Σw, the same object as Section 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optimised: it is the reference point Solver must beat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Hold return fixed, then minimise risk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20447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898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objective:   B63   (Min)       σp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changing:     B55:B59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      B60 =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B61 = B48         same E(rp)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B55:B59 &gt;= 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53460"/>
            <a:ext cx="11094415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pinned, so Solver's only job is to shrink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one point on the efficient frontier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The result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13.77%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both portfolios (B48 = B61)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68698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equal-weighted (B50)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188757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8757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11.40%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optimised (B63)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10944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expected return, 2.16 points less risk.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27448"/>
            <a:ext cx="11094415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B55:B59: AAPL 5.8%, WMT 36.7%, JPM 20.5%, VNQ 0%, AGG 37.1%</a:t>
            </a:r>
            <a:endParaRPr lang="en-US" sz="2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MCQ 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holds expected return equal to that of the equal-weighted portfolio. What does the optimization demonstrate?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0820095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equal-weighted portfolio has the lowest possible risk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same expected return can be achieved with lower risk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higher expected return always requires higher risk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Portfolio risk does not depend on the weights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99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Demo!B195</a:t>
            </a:r>
            <a:endParaRPr lang="en-US" sz="2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what Step 7 proves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B61 = B48 pins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at 13.77% for both portfolios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B63 = 11.40% with B50 = 13.56%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equal weighting were already lowest-risk, B63 could not beat B50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weights gave different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risk clearly depends on weights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option is about the frontier's slope; this test says nothing on that</a:t>
            </a:r>
            <a:endParaRPr lang="en-US" sz="2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Global minimum variance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objective:   B76   (Min)       σp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changing:     B68:B72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      B73 = 1,  B68:B72 &gt;= 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702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target-return constraint entirely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returns play no part: the objective uses only Σ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 calls this portfolio G, the left tip of the frontier</a:t>
            </a:r>
            <a:endParaRPr lang="en-US" sz="2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The answer is almost all AGG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95.05%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weight (B72); WMT 4.95%, rest 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68698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6.36%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4551578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(B76), the lowest without shorting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188757" y="1463040"/>
            <a:ext cx="345429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8757" y="16002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1.10%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71637" y="2743200"/>
            <a:ext cx="30885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(B74), below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10944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risk, but S</a:t>
            </a:r>
            <a:r>
              <a:rPr lang="en-US" sz="2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(1.10 − 3) / 6.36 = −0.30.</a:t>
            </a:r>
            <a:endParaRPr lang="en-US" sz="2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10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minimum-variance portfolio has the lowest standard deviation among all feasible portfolios and therefore must also have the highest Sharpe ratio.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Demo!B198</a:t>
            </a:r>
            <a:endParaRPr lang="en-US" sz="2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lowest risk, best portfolio?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one is exactly what Step 8 minimises, with no return constraint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[E(r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/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ratio: the numerator matters too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earns 1.10%, below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3%, so its numerator is negative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gives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−0.30; Step 9 gives 1.15 at a higher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16.30%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risk and best risk-adjusted return are different objectives</a:t>
            </a:r>
            <a:endParaRPr lang="en-US" sz="2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Maximum Sharpe ratio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 /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B80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=Data!$B$68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</a:t>
            </a:r>
            <a:r>
              <a:rPr lang="en-US" sz="24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B91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=(B88-B80)/B90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1.1546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B91, changing B82:B86, B87 = 1, B82:B86 &gt;= 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3790"/>
            <a:ext cx="11094415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 as Sec 1 B29, now over five assets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 calls the winner P, the optimal risky portfolio</a:t>
            </a:r>
            <a:endParaRPr lang="en-US" sz="2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The result</a:t>
            </a:r>
            <a:endParaRPr lang="en-US" sz="36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733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VNQ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Weight, B82:B86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10.85%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54.07%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35.07%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505456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78608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=SUMPRODUCT(B82:B86, TRANSPOSE(B9:F9))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21.82%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B90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=SQRT(B89)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16.30%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B91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=(B88-B80)/B90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1.1546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52316"/>
            <a:ext cx="110944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VNQ and AGG both sit at zero: corner solutions.</a:t>
            </a:r>
            <a:endParaRPr lang="en-US" sz="2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VNQ and AGG get nothing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AGG's excess return is negative: 0.003% − 3% ≈ −3.00%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VNQ returns 6.81% but carries 18.92% of risk (Sharpe alone 0.20)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VNQ also correlates 0.45 to 0.58 with the three stocks: little offset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either would lower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best Solver can do is zero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shorting stops it from going below zero</a:t>
            </a:r>
            <a:endParaRPr lang="en-US" sz="2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Step 9, VNQ's zero weight means that including a positive allocation to VNQ would not improve the maximum Sharpe ratio under the no-shorting constraint.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Demo!B188</a:t>
            </a:r>
            <a:endParaRPr lang="en-US" sz="2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what a zero weight tells you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≥ 0 is an inequality, so an optimum can sit on the boundary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stopped Solver from going positive; it searched and stayed at 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VNQ weight that raised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have been taken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binds against going negative, not against going positive</a:t>
            </a:r>
            <a:endParaRPr lang="en-US" sz="2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MCQ 6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has far lower variance than the other four assets. Removing AGG from the portfolio most likely: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082009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Shifts the efficient frontier outward (better risk–return opportunities)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Shifts the frontier inward (worse opportunities) because a low-variance diversifier was removed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Has no effect on the efficient frontier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Shifts the frontier inward because bonds have the highest expected return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9671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Demo!B148</a:t>
            </a:r>
            <a:endParaRPr lang="en-US" sz="2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dropping the diversifier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4-asset portfolio is still available in the 5-asset set at w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removing an asset can only shrink the opportunity set, never enlarge it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only if AGG went unused: Step 7 gives it 37.09%, Step 8 95.05%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edge is σ = 6.43% against 19–25%, not unusually low ρ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3B runs this exact experiment</a:t>
            </a:r>
            <a:endParaRPr lang="en-US" sz="2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negative weight actually means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position: borrow the asset, sell it, buy it back later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raised funds extra long positions elsewhere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longs can exceed 100% of your own money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still sum to 1: the negatives offset the excess longs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(B97:B101) has two negatives and WMT above 100%</a:t>
            </a:r>
            <a:endParaRPr lang="en-US" sz="2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11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of −119% in VNQ (Step 10) means the investor shorts VNQ in an amount equal to 119% of the portfolio's net value, helping finance long positions in the other assets.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Demo!B201</a:t>
            </a:r>
            <a:endParaRPr lang="en-US" sz="2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reading a negative weight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fractions of net value, and B102 forces them to sum to 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0.813 + 1.327 + 1.147 − 1.190 − 1.097 = 1.000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Longs total 3.287, shorts −2.287: the excess is exactly financed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weight is borrow-and-sell: cash in now, funding long exposure</a:t>
            </a:r>
            <a:endParaRPr lang="en-US" sz="2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enlarges the feasible set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long-only portfolio is still available when shorting is allowed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adds portfolios; it removes none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best achievable trade-off can only improve or tie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test this by deleting w ≥ 0 in Step 9: max Sharpe with only a budget constraint can run off to extreme leverage</a:t>
            </a:r>
            <a:endParaRPr lang="en-US" sz="2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Allowing short selling expands the feasible set of portfolios, so the best achievable risk–return tradeoffs with shorting can never be worse than without shorting.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Demo!B125</a:t>
            </a:r>
            <a:endParaRPr lang="en-US" sz="2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more freedom, worse off?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62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adds w ≥ 0; allowing shorting deletes a restriction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long-only portfolio still satisfies the shorting constraints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menu lets the optimiser repeat its old answer, so never worse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better only if the old optimum sat at a corner; Steps 8 and 9 do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claim about the frontier, not about whether shorting is prudent</a:t>
            </a:r>
            <a:endParaRPr lang="en-US" sz="2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the feasible set hides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loses at most what you put in: the price stops at zero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loses when the price rises, and price has no ceiling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loss on a short is unbounded in principle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Mean-variance never sees this: it only knows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one reason Steps 7–9 keep w ≥ 0</a:t>
            </a:r>
            <a:endParaRPr lang="en-US" sz="2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from short positions are limited because asset prices cannot rise indefinitely.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12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Demo!B128</a:t>
            </a:r>
            <a:endParaRPr lang="en-US" sz="2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how bad can a short get?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long's worst case is the price hitting zero: you lose what you put in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loses as the price rises, so ask what caps a price from above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payoff is bounded at −100%; the other is not bounded at all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blind to this: it treats up and down moves the same</a:t>
            </a:r>
            <a:endParaRPr lang="en-US" sz="2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Adding investor preferences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½Aσ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Bodie's quadratic utility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B95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=Data!$B$69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 = 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735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is expected return minus a penalty on variance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how much this investor dislikes risk; higher A, bigger penalty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asks which portfolio is best for everyone; U asks which is best for this investor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allows shorting: weights need only sum to 1</a:t>
            </a:r>
            <a:endParaRPr lang="en-US" sz="2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The formula and its ÷100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decimals:  U =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½Aσ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percent:   U =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½A ·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100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65938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3253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B106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=B103 - (B95/2)*B104/100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30.38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7980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B103 is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 %, B104 is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%</a:t>
            </a:r>
            <a:r>
              <a:rPr lang="en-US" sz="2600" baseline="3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multiplies returns by 100 but variances by 10,000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÷100 brings the penalty back to %, so both terms are in the same unit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61.32 − 2 × 1546.89 / 100 = 30.38</a:t>
            </a:r>
            <a:endParaRPr lang="en-US" sz="2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Solver setup and result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95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B106, changing B97:B101, subject to B102 = 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w &gt;= 0 constraint: shorting allowed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3800"/>
            <a:ext cx="11094415" cy="314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AAPL 81.3%, WMT 132.7%, JPM 114.7%, VNQ −119.0%, AGG −109.7%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61.32% (B103),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39.33% (B105), U = 30.38 (B106)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the two weak assets funds leverage in the three strong ones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= 4, the investor accepts that much risk for that much return</a:t>
            </a:r>
            <a:endParaRPr lang="en-US" sz="2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re-run Step 10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Data!B69 from 4 to 8, predict, then re-run Solver.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92808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½Aσ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19578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rise or fall? By roughly how much?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rise or fall, and is that a cost or a benefit?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all five weights shrink toward zero, or can one move the other way?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AGG: a weight can change sign as A rises</a:t>
            </a:r>
            <a:endParaRPr lang="en-US" sz="2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MCQ 12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risk-aversion coefficient A increases from 4 to 8 and Solver is run again, the optimized portfolio would generally: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0820095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Place more weight on high-variance assets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Have lower portfolio variance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Have exactly the same weights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Have a higher expected return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99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Demo!B208</a:t>
            </a:r>
            <a:endParaRPr lang="en-US" sz="2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turning up risk aversion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multiplies only the variance term in U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 doubles the cost of variance; the return reward is untouched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must the optimiser move when one side costs twice as much?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weights would mean the optimum ignores its own objective</a:t>
            </a:r>
            <a:endParaRPr lang="en-US" sz="2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Is the utility portfolio efficient?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B110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=B103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target = 61.32%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B120, changing B112:B116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 B117 = 1, B118 = B110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702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at the Step 10 return, then minimise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B120 equals B105, Step 10 already sits on the frontier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B120 is lower, Step 10 was dominated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allowed shorting, so Step 11 must too: same rules, fair test</a:t>
            </a:r>
            <a:endParaRPr lang="en-US" sz="2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The result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6432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39.33%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499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Step 10 utility portfolio (B105)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78728" y="1463040"/>
            <a:ext cx="536432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8728" y="16002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39.33%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2743200"/>
            <a:ext cx="499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that return (B120)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σ</a:t>
            </a:r>
            <a:r>
              <a:rPr lang="en-US" sz="26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same weights (B97:B101 vs B112:B116). The utility portfolio is efficient.</a:t>
            </a:r>
            <a:endParaRPr lang="en-US" sz="2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4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quadratic-utility portfolio from Step 10 lies on the efficient frontier (i.e., no other portfolio with the same E(r</a:t>
            </a:r>
            <a:r>
              <a:rPr lang="en-US" sz="28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has a lower σ</a:t>
            </a:r>
            <a:r>
              <a:rPr lang="en-US" sz="28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Demo!B134</a:t>
            </a:r>
            <a:endParaRPr lang="en-US" sz="2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why utility lands on the frontier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tests exactly this: fix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then minimise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lower-σ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portfolio existed at that return, it would have higher U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Step 10 would not have been the utility maximum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 utility maximum must be efficient; B105 = B120 confirms it</a:t>
            </a:r>
            <a:endParaRPr lang="en-US" sz="2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12: The efficient frontier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7 once for each of 120 target returns m: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92808"/>
            <a:ext cx="10820095" cy="119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 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√(w′Σw)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to  Σw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  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m,   every w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72028"/>
            <a:ext cx="1109441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solved problem is one point on the curve; Step 7 is one of them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8, portfolio G, is the curve's left end at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6.36%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end is 100% JPM, the highest-mean asset: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24.13%</a:t>
            </a:r>
            <a:endParaRPr lang="en-US" sz="2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chart is precomputed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120 frontier points sit in a locked block: BA313:BB432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 endpoints are BD313:BE314; G, EW and P are BG313:BI315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reads no Solver cell, so a mistake in Steps 6–11 cannot distort it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will not move if you change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</a:t>
            </a:r>
            <a:endParaRPr lang="en-US" sz="2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and capital allocation line</a:t>
            </a:r>
            <a:endParaRPr lang="en-US" sz="3600" dirty="0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188720"/>
          <a:ext cx="11091672" cy="4983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curve: the efficient frontier, no shorting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Triangle: global minimum variance G, Step 8 (6.36%, 1.10%)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Square: equal-weighted portfolio, Step 6 (13.56%, 13.77%)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Diamond: maximum Sharpe P, Step 9 (16.30%, 21.82%)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line: the capital allocation line from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3%</a:t>
            </a:r>
            <a:endParaRPr lang="en-US" sz="2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to take from the chart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sits to the right of the curve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straight left from it, at the same height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reach the frontier: same 13.77% return,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11.40%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leftward move is exactly what Step 7 computed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weighting never consults Σ, which is why it lands inside</a:t>
            </a:r>
            <a:endParaRPr lang="en-US" sz="2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MCQ 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equal-weighted portfolio lie inside (to the right of) the efficient frontier?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0820095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Because equal weighting ignores the covariance structure between assets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Because equal weighting always produces the highest possible risk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Because equal weighting minimizes expected return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Because equal weighting is only optimal when all assets are identical in mean, variance, and covariance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3095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Demo!B141</a:t>
            </a:r>
            <a:endParaRPr lang="en-US" sz="2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why equal weighting falls short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are =1/5: the formula reads no cell of Σ and no mean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minimises w′Σw at each target return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13.56%; the frontier at the same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reaches 11.40%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B: 100% JPM or AAPL is riskier than 13.56%, so is it the highest?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option is true only in a special case: does that case hold here?</a:t>
            </a:r>
            <a:endParaRPr lang="en-US" sz="2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not just minimum-variance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upper branch is drawn; it begins at G and runs upward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minimum-variance frontier also has a lower branch below 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that lower branch is dominated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lower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no investor would choose it</a:t>
            </a:r>
            <a:endParaRPr lang="en-US" sz="2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13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on the lower branch of the minimum-variance frontier, below the global minimum-variance portfolio, are inefficient because another portfolio offers the same standard deviation with a higher expected return.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192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507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Demo!B211</a:t>
            </a:r>
            <a:endParaRPr lang="en-US" sz="2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the branch we did not draw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frontier is a sideways parabola with two branches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lower branch and read straight up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risk, different expected return: one of the two is beaten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means another feasible portfolio ties your risk and beats your return</a:t>
            </a:r>
            <a:endParaRPr lang="en-US" sz="2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questions, two objects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10048" cy="26407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5044288" cy="236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risky assets, in what proportions?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different mix of the five assets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33008" y="1280160"/>
            <a:ext cx="5410048" cy="264078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1417320"/>
            <a:ext cx="5044288" cy="236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(CAL)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money is at risk at all?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P diluted with T-bills, or levered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95267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Bodie's first decision is capital allocation, but it is our last computation: you need P before you can dilute it.</a:t>
            </a:r>
            <a:endParaRPr lang="en-US" sz="2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allocation line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y[E(r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yσ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⇒ 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S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1830"/>
            <a:ext cx="11094415" cy="187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the complete portfolio: share y in P, the rest in T-bills at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y =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 disappears, leaving a straight line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intercept is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its slope is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Sharpe ratio of P</a:t>
            </a:r>
            <a:endParaRPr lang="en-US" sz="2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line is straight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y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(1 − y)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0 + 2y(1 − y) · 0 = y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6930"/>
            <a:ext cx="11094415" cy="2356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T-bills have σ = 0 and no covariance with P, so two terms vanish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both proportional to y: they move in lock-step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risky assets bend into a curve because of the covariance term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diversifies against a constant, so mixing with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stays straight</a:t>
            </a:r>
            <a:endParaRPr lang="en-US" sz="2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portfolio, different doses</a:t>
            </a:r>
            <a:endParaRPr lang="en-US" sz="36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103120"/>
                <a:gridCol w="1828800"/>
                <a:gridCol w="1828800"/>
                <a:gridCol w="203911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T-bills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="1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12.41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31.23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31920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along the CAL changes risk, not Sharpe. Only a better P raises the slope.</a:t>
            </a:r>
            <a:endParaRPr lang="en-US" sz="2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tangency portfolio wins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risky portfolio has its own CAL, with slope equal to its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therefore means finding the steepest line out of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line upward until it is about to leave the feasible set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the instant it touches the frontier: that point is 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problem Step 9 solved in B91</a:t>
            </a:r>
            <a:endParaRPr lang="en-US" sz="2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 wins: compare at equal risk</a:t>
            </a:r>
            <a:endParaRPr lang="en-US" sz="36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  <a:gridCol w="377647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this σ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return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 offers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as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13.56% (EW, Step 6)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13.77%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18.66%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P + 17% bills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11.40% (Step 7)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13.77%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16.16%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P + 30% bills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6.36% (G, Step 8)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10.34%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 P + 61% bills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456432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T-bills available, only P is worth holding: an investor who wants less risk holds less of it.</a:t>
            </a:r>
            <a:endParaRPr lang="en-US" sz="2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on the chart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 through (0, 3.00) and (26, 33.02):  slope = (33.02 − 3.00) / 26 = 1.1546</a:t>
            </a:r>
            <a:endParaRPr lang="en-US" sz="2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9, B91:  (21.82 − 3.00) / 16.30 = 1.1546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2060"/>
            <a:ext cx="11094415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 passes exactly through the diamond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the CAL and the value in B91 are the same number</a:t>
            </a:r>
            <a:endParaRPr lang="en-US" sz="2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MCQ 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straight line beginning at the risk-free rate is tangent to the efficient frontier at one point. That tangency portfolio is: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9504"/>
            <a:ext cx="10820095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global minimum-variance portfolio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equal-weighted portfolio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maximum Sharpe ratio portfolio</a:t>
            </a:r>
            <a:endParaRPr lang="en-US" sz="2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portfolio with the highest expected return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Demo!B185</a:t>
            </a:r>
            <a:endParaRPr lang="en-US" sz="2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what the tangency point 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95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from (0,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(σ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 has slope [E(r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/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S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steepest line and highest Sharpe are one question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slope 1.1546 on the chart, the same as B91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others fall short: G gives −0.30, 100% JPM gives 0.82</a:t>
            </a:r>
            <a:endParaRPr lang="en-US" sz="26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line continues past the diamond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left of P mix P with T-bills: 0 &lt; y &lt; 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right of P borrow at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hold more than 100% of P: y &gt; 1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on the line beats the curve directly below it</a:t>
            </a:r>
            <a:endParaRPr lang="en-US" sz="2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portfolio is missing from this chart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10 utility portfolio is not plotted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at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39.33%,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61.32%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frontier is long-only; Step 10 allows shorting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gives a larger set with its own, higher frontier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also why Step 11 had to allow shorting</a:t>
            </a:r>
            <a:endParaRPr lang="en-US" sz="2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are not next year's weights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 and covariance here is an estimate from 60 months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treats those estimates as if they were exact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AGG's annual mean is 0.003%, indistinguishable from zero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it receives 95% of the minimum-variance portfolio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sample window can move these weights a great deal</a:t>
            </a:r>
            <a:endParaRPr lang="en-US" sz="2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T/F 3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portfolio weights derived from historical data are guaranteed to be optimal in the future.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5973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False?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125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goes in  Sec 3A - 5-Stock Demo!B131</a:t>
            </a:r>
            <a:endParaRPr lang="en-US" sz="2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3A - 5-Stock Demo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through: do past weights hold up?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14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every cell of Σ is a 60-month estimate, not a true parameter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optimises those estimates to five decimal places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"Guaranteed" would need the next 60 months to repeat these estimates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sample window and re-run Solver to see how far the weights move</a:t>
            </a:r>
            <a:endParaRPr lang="en-US" sz="26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Assets: AGG Removed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it. Same tools, one asset fewer.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sheet: Sec 3B - Students Do</a:t>
            </a:r>
            <a:endParaRPr lang="en-US" sz="2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Know what you are holding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14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VNQ: real estate equity ETF tracking the MSCI US IMI Real Estate 25/50 Index (B8)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AGG: U.S. investment-grade bond ETF tracking the Bloomberg US Aggregate Bond Index (B11)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has the lower expense ratio? Look it up in FactSet (B18)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is the only bond fund in the set: that is why removing it matters</a:t>
            </a:r>
            <a:endParaRPr lang="en-US" sz="2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 in one step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955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808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B23:E23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=AVERAGE(Data!B6:B65)*12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annual mean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B24:E24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=STDEV.S(Data!B6:B65)*SQRT(12)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annual σ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3800"/>
            <a:ext cx="11094415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3A took two rows for each; here monthly and annual are combined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as Sec 3A B9:E10: AAPL 17.08/24.64, WMT 22.10/19.68, JPM 22.85/24.13, VNQ 6.81/18.92</a:t>
            </a:r>
            <a:endParaRPr lang="en-US" sz="26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The 4×4 covariance matrix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5918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445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B29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=COVARIANCE.S(Data!$B$6:$B$65, Data!B$6:B$65)*12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0580"/>
            <a:ext cx="11094415" cy="227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through E32: 16 cells, 4 variances and 12 covariances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B29:E32 equals Sec 3A B15:E18: the 5×5 matrix with AGG's row and column deleted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asset removes a row and a column; nothing else in Σ changes</a:t>
            </a:r>
            <a:endParaRPr lang="en-US" sz="2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Minimum variance (shorting allowed)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681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53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B44, changing B37:B40, subject to B41 = 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=SUMPRODUCT(B37:B40, TRANSPOSE(B23:E23))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17.56%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B43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=MMULT(TRANSPOSE(B37:B40),MMULT(B29:E32,B37:B40))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B44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=SQRT(B43)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15.62%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9024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AAPL 13.4%, WMT 39.2%, JPM 21.1%, VNQ 26.3%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Shorting was allowed, but every weight came out positive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long-only minimum-variance answer would be the same</a:t>
            </a:r>
            <a:endParaRPr lang="en-US" sz="2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AGG raises the floor on risk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6432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6.36%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499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AGG (3A, B76)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78728" y="1463040"/>
            <a:ext cx="5364328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78728" y="1600200"/>
            <a:ext cx="5364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15.62%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461608" y="2743200"/>
            <a:ext cx="4998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AGG (3B, B44)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end of the frontier moves far to the right: the low-risk region is gone.</a:t>
            </a:r>
            <a:endParaRPr lang="en-US" sz="2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Maximum Sharpe ratio (no shorting)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=Data!$B$68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r</a:t>
            </a:r>
            <a:r>
              <a:rPr lang="en-US" sz="2400" b="1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B58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=(B55-B48)/B57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1.1546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B58, changing B50:B53, B54 = 1, B50:B53 &gt;= 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7020"/>
            <a:ext cx="11094415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AAPL 10.85%, WMT 54.07%, JPM 35.07%, VNQ 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21.82% (B55),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16.30% (B57)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Sec 3A Step 9, to four decimals</a:t>
            </a:r>
            <a:endParaRPr lang="en-US" sz="26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tangency portfolio did not move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 3A, P already held 0% AGG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an asset that was not used cannot change that optimum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CAL, and every investor who holds P plus T-bills, is unaffected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damage is at the low-risk end: G jumps from 6.36% to 15.62%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6: the frontier shifts inward, but not everywhere equally</a:t>
            </a:r>
            <a:endParaRPr lang="en-US" sz="2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Utility, no shorting this time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80160"/>
            <a:ext cx="10820095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E(r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− ½A · σ</a:t>
            </a:r>
            <a:r>
              <a:rPr lang="en-US" sz="3000" baseline="-4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3000" baseline="30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3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100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693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8008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=Data!$B$69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A = 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B72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=B69 - (B62/2)*B70/100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16.62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B72, changing B64:B67, B68 = 1, B64:B67 &gt;= 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3790"/>
            <a:ext cx="11094415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AAPL 1.2%, WMT 59.9%, JPM 38.9%, VNQ 0%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22.34% (B69),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16.91% (B71)</a:t>
            </a:r>
            <a:endParaRPr lang="en-US" sz="2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vs Sec 3A Step 10: what changed?</a:t>
            </a:r>
            <a:endParaRPr lang="en-US" sz="36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475488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 Step 10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 Step 5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with AGG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no AGG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E(r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61.32%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22.34%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39.33%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16.91%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30.38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16.62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407408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changed, but the ban on shorting removes the leverage behind 3A’s 61% return.</a:t>
            </a:r>
            <a:endParaRPr lang="en-US" sz="2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Utility picks a point near P, not P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323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(Step 4):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16.30%,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21.82%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(Step 5): 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16.91%, E(r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22.34%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= 4, this investor takes a little more risk than P for more return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T-bill in this problem, so the investor moves along the curve, not the CAL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A would slide the choice down the frontier toward G</a:t>
            </a:r>
            <a:endParaRPr lang="en-US" sz="26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Efficiency verification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3182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53312"/>
            <a:ext cx="10728655" cy="117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B76  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=B69</a:t>
            </a: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target = 22.34%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B85, changing B78:B81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 B82 = 1, B83 = B76, B78:B81 &gt;= 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27020"/>
            <a:ext cx="11094415" cy="227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B85 = 16.91% = B71, and B78:B81 matches B64:B67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had no shorting, so Step 6 has none either: same rules, fair test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conclusion as Sec 3A Step 11: a utility maximum is always efficient</a:t>
            </a:r>
            <a:endParaRPr lang="en-US" sz="2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Sheet: Sec 3B - Students Do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271455" y="6263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3B in one table</a:t>
            </a:r>
            <a:endParaRPr lang="en-US" sz="36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383280"/>
                <a:gridCol w="3383280"/>
              </a:tblGrid>
              <a:tr h="475488">
                <a:tc>
                  <a:txBody>
                    <a:bodyPr/>
                    <a:lstStyle/>
                    <a:p>
                      <a:endParaRPr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assets (3A)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assets (3B)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Min-variance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15.62%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S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1.1546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Sharpe weights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AAPL/WMT/JPM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σ</a:t>
                      </a:r>
                      <a:r>
                        <a:rPr lang="en-US" sz="2400" baseline="-40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(long-only)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16.91%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31920"/>
            <a:ext cx="110944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asset can matter a lot for one investor (low risk) and not at all for another (max Sharpe).</a:t>
            </a:r>
            <a:endParaRPr lang="en-US" sz="26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379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weighted average; risk is not, because of covariance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R ∘ σσ′: every covariance is direction (ρ) times size (σ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w′Σw is the two-asset variance formula, written so it scales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objectives give different portfolios: G, P, utility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 from r</a:t>
            </a:r>
            <a:r>
              <a:rPr lang="en-US" sz="2600" baseline="-40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steepest at P; investors differ only in how much P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define the feasible set; compare like with like</a:t>
            </a:r>
            <a:endParaRPr lang="en-US" sz="26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an estimate, so every weight is uncertain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Optimization</dc:title>
  <dc:subject>PptxGenJS Presentation</dc:subject>
  <dc:creator>PptxGenJS</dc:creator>
  <cp:lastModifiedBy>PptxGenJS</cp:lastModifiedBy>
  <cp:revision>1</cp:revision>
  <dcterms:created xsi:type="dcterms:W3CDTF">2026-10-06T01:35:13Z</dcterms:created>
  <dcterms:modified xsi:type="dcterms:W3CDTF">2026-10-06T01:35:13Z</dcterms:modified>
</cp:coreProperties>
</file>